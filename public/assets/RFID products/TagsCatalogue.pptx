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5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7556500" cy="10693400"/>
  <p:notesSz cx="6858000" cy="9144000"/>
  <p:embeddedFontLst>
    <p:embeddedFont>
      <p:font typeface="Akzidenz-Grotesk" panose="020B0604020202020204" charset="0"/>
      <p:regular r:id="rId12"/>
    </p:embeddedFont>
    <p:embeddedFont>
      <p:font typeface="Alegreya Sa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90" autoAdjust="0"/>
    <p:restoredTop sz="94622" autoAdjust="0"/>
  </p:normalViewPr>
  <p:slideViewPr>
    <p:cSldViewPr>
      <p:cViewPr varScale="1">
        <p:scale>
          <a:sx n="58" d="100"/>
          <a:sy n="58" d="100"/>
        </p:scale>
        <p:origin x="206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5199792" y="1367350"/>
            <a:ext cx="1400769" cy="20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Adept-4518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17100" y="1990124"/>
            <a:ext cx="1490272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Impinj M730/M830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45 x 18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TID Memory: 96-bit / 48-b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344658" y="10229585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44658" y="10037659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44" name="AutoShape 44"/>
          <p:cNvSpPr/>
          <p:nvPr/>
        </p:nvSpPr>
        <p:spPr>
          <a:xfrm>
            <a:off x="2356178" y="10354997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5" name="Group 45"/>
          <p:cNvGrpSpPr/>
          <p:nvPr/>
        </p:nvGrpSpPr>
        <p:grpSpPr>
          <a:xfrm>
            <a:off x="344658" y="247581"/>
            <a:ext cx="7014992" cy="731771"/>
            <a:chOff x="0" y="0"/>
            <a:chExt cx="1128171" cy="17419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128171" cy="174195"/>
            </a:xfrm>
            <a:custGeom>
              <a:avLst/>
              <a:gdLst/>
              <a:ahLst/>
              <a:cxnLst/>
              <a:rect l="l" t="t" r="r" b="b"/>
              <a:pathLst>
                <a:path w="1128171" h="174195">
                  <a:moveTo>
                    <a:pt x="87098" y="0"/>
                  </a:moveTo>
                  <a:lnTo>
                    <a:pt x="1041073" y="0"/>
                  </a:lnTo>
                  <a:cubicBezTo>
                    <a:pt x="1089176" y="0"/>
                    <a:pt x="1128171" y="38995"/>
                    <a:pt x="1128171" y="87098"/>
                  </a:cubicBezTo>
                  <a:lnTo>
                    <a:pt x="1128171" y="87098"/>
                  </a:lnTo>
                  <a:cubicBezTo>
                    <a:pt x="1128171" y="135200"/>
                    <a:pt x="1089176" y="174195"/>
                    <a:pt x="1041073" y="174195"/>
                  </a:cubicBezTo>
                  <a:lnTo>
                    <a:pt x="87098" y="174195"/>
                  </a:lnTo>
                  <a:cubicBezTo>
                    <a:pt x="38995" y="174195"/>
                    <a:pt x="0" y="135200"/>
                    <a:pt x="0" y="87098"/>
                  </a:cubicBezTo>
                  <a:lnTo>
                    <a:pt x="0" y="87098"/>
                  </a:lnTo>
                  <a:cubicBezTo>
                    <a:pt x="0" y="38995"/>
                    <a:pt x="38995" y="0"/>
                    <a:pt x="8709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1128171" cy="23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0" y="332382"/>
            <a:ext cx="7359650" cy="592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1400" b="1" spc="553" dirty="0">
                <a:solidFill>
                  <a:srgbClr val="000000"/>
                </a:solidFill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RFID inlays/labels for retails and similar applications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225993" y="1650549"/>
            <a:ext cx="1112469" cy="253688"/>
            <a:chOff x="0" y="0"/>
            <a:chExt cx="185707" cy="6503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315862" y="1682411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3811A99F-9E5F-78C5-F048-9EA2294AF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85" y="1370706"/>
            <a:ext cx="3294579" cy="20922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3E96972C-0566-7509-1C37-CCF25C2F2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05" y="4284870"/>
            <a:ext cx="3226338" cy="19584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123CD32A-27BD-45F6-FE00-2C5667B2B53F}"/>
              </a:ext>
            </a:extLst>
          </p:cNvPr>
          <p:cNvSpPr txBox="1"/>
          <p:nvPr/>
        </p:nvSpPr>
        <p:spPr>
          <a:xfrm>
            <a:off x="5140860" y="4202871"/>
            <a:ext cx="1574061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Adept-7618</a:t>
            </a:r>
          </a:p>
        </p:txBody>
      </p:sp>
      <p:sp>
        <p:nvSpPr>
          <p:cNvPr id="8" name="TextBox 34">
            <a:extLst>
              <a:ext uri="{FF2B5EF4-FFF2-40B4-BE49-F238E27FC236}">
                <a16:creationId xmlns:a16="http://schemas.microsoft.com/office/drawing/2014/main" id="{AE7A8130-6607-A7BC-395E-AAA69E1F9153}"/>
              </a:ext>
            </a:extLst>
          </p:cNvPr>
          <p:cNvSpPr txBox="1"/>
          <p:nvPr/>
        </p:nvSpPr>
        <p:spPr>
          <a:xfrm>
            <a:off x="5140860" y="4769968"/>
            <a:ext cx="1574061" cy="1160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Impinj M730/M830/U9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  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45 x 18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   TID Memory: 96-bit / 48-b</a:t>
            </a:r>
          </a:p>
        </p:txBody>
      </p:sp>
      <p:grpSp>
        <p:nvGrpSpPr>
          <p:cNvPr id="9" name="Group 49">
            <a:extLst>
              <a:ext uri="{FF2B5EF4-FFF2-40B4-BE49-F238E27FC236}">
                <a16:creationId xmlns:a16="http://schemas.microsoft.com/office/drawing/2014/main" id="{B38C25FE-5F79-5B3F-06B6-A9AEC6589415}"/>
              </a:ext>
            </a:extLst>
          </p:cNvPr>
          <p:cNvGrpSpPr/>
          <p:nvPr/>
        </p:nvGrpSpPr>
        <p:grpSpPr>
          <a:xfrm>
            <a:off x="5282733" y="4469648"/>
            <a:ext cx="1068900" cy="262532"/>
            <a:chOff x="0" y="0"/>
            <a:chExt cx="185707" cy="65033"/>
          </a:xfrm>
        </p:grpSpPr>
        <p:sp>
          <p:nvSpPr>
            <p:cNvPr id="10" name="Freeform 50">
              <a:extLst>
                <a:ext uri="{FF2B5EF4-FFF2-40B4-BE49-F238E27FC236}">
                  <a16:creationId xmlns:a16="http://schemas.microsoft.com/office/drawing/2014/main" id="{4760BD29-9570-8023-A713-1D7DCD3674AD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51">
              <a:extLst>
                <a:ext uri="{FF2B5EF4-FFF2-40B4-BE49-F238E27FC236}">
                  <a16:creationId xmlns:a16="http://schemas.microsoft.com/office/drawing/2014/main" id="{79C645FB-46A3-866B-5AF7-E6FBCE6B9147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2" name="TextBox 52">
            <a:extLst>
              <a:ext uri="{FF2B5EF4-FFF2-40B4-BE49-F238E27FC236}">
                <a16:creationId xmlns:a16="http://schemas.microsoft.com/office/drawing/2014/main" id="{37C55D96-AD7E-DEB7-741B-CE9FD3058EC0}"/>
              </a:ext>
            </a:extLst>
          </p:cNvPr>
          <p:cNvSpPr txBox="1"/>
          <p:nvPr/>
        </p:nvSpPr>
        <p:spPr>
          <a:xfrm>
            <a:off x="5389769" y="4510353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32" name="TextBox 22"/>
          <p:cNvSpPr txBox="1"/>
          <p:nvPr/>
        </p:nvSpPr>
        <p:spPr>
          <a:xfrm>
            <a:off x="5252531" y="7030554"/>
            <a:ext cx="1778297" cy="215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Adept-5030</a:t>
            </a:r>
          </a:p>
        </p:txBody>
      </p:sp>
      <p:sp>
        <p:nvSpPr>
          <p:cNvPr id="33" name="TextBox 34">
            <a:extLst>
              <a:ext uri="{FF2B5EF4-FFF2-40B4-BE49-F238E27FC236}">
                <a16:creationId xmlns:a16="http://schemas.microsoft.com/office/drawing/2014/main" id="{033C7C91-B346-6188-2909-B80B0E541B7C}"/>
              </a:ext>
            </a:extLst>
          </p:cNvPr>
          <p:cNvSpPr txBox="1"/>
          <p:nvPr/>
        </p:nvSpPr>
        <p:spPr>
          <a:xfrm>
            <a:off x="5271048" y="7633515"/>
            <a:ext cx="1854829" cy="1160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Impinj M730/M830/U9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     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50 x 30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      TID Memory: 96-bit / 48-b</a:t>
            </a:r>
          </a:p>
        </p:txBody>
      </p:sp>
      <p:grpSp>
        <p:nvGrpSpPr>
          <p:cNvPr id="35" name="Group 49">
            <a:extLst>
              <a:ext uri="{FF2B5EF4-FFF2-40B4-BE49-F238E27FC236}">
                <a16:creationId xmlns:a16="http://schemas.microsoft.com/office/drawing/2014/main" id="{A10193A9-E8A5-FD21-EF44-308F95C93C4C}"/>
              </a:ext>
            </a:extLst>
          </p:cNvPr>
          <p:cNvGrpSpPr/>
          <p:nvPr/>
        </p:nvGrpSpPr>
        <p:grpSpPr>
          <a:xfrm>
            <a:off x="5403580" y="7321549"/>
            <a:ext cx="1207591" cy="215374"/>
            <a:chOff x="0" y="0"/>
            <a:chExt cx="185707" cy="65033"/>
          </a:xfrm>
        </p:grpSpPr>
        <p:sp>
          <p:nvSpPr>
            <p:cNvPr id="36" name="Freeform 50">
              <a:extLst>
                <a:ext uri="{FF2B5EF4-FFF2-40B4-BE49-F238E27FC236}">
                  <a16:creationId xmlns:a16="http://schemas.microsoft.com/office/drawing/2014/main" id="{2C57FE26-73DF-0A58-56D4-7E9E4D90969D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" name="TextBox 51">
              <a:extLst>
                <a:ext uri="{FF2B5EF4-FFF2-40B4-BE49-F238E27FC236}">
                  <a16:creationId xmlns:a16="http://schemas.microsoft.com/office/drawing/2014/main" id="{02F81606-8A6B-6571-2CD4-2727EB1D820B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8" name="TextBox 52">
            <a:extLst>
              <a:ext uri="{FF2B5EF4-FFF2-40B4-BE49-F238E27FC236}">
                <a16:creationId xmlns:a16="http://schemas.microsoft.com/office/drawing/2014/main" id="{12C4F2E2-0DD7-E441-1C13-BE9B27FF7B0F}"/>
              </a:ext>
            </a:extLst>
          </p:cNvPr>
          <p:cNvSpPr txBox="1"/>
          <p:nvPr/>
        </p:nvSpPr>
        <p:spPr>
          <a:xfrm>
            <a:off x="5522358" y="7370370"/>
            <a:ext cx="1018015" cy="137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527E928-703B-3A6F-789B-CB3E2E88D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54" y="7100040"/>
            <a:ext cx="3507496" cy="21474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22">
            <a:extLst>
              <a:ext uri="{FF2B5EF4-FFF2-40B4-BE49-F238E27FC236}">
                <a16:creationId xmlns:a16="http://schemas.microsoft.com/office/drawing/2014/main" id="{F58617BE-9508-B384-0173-ABB304BDB735}"/>
              </a:ext>
            </a:extLst>
          </p:cNvPr>
          <p:cNvSpPr txBox="1"/>
          <p:nvPr/>
        </p:nvSpPr>
        <p:spPr>
          <a:xfrm>
            <a:off x="5149850" y="914607"/>
            <a:ext cx="1574061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Adept-5030-E</a:t>
            </a:r>
          </a:p>
        </p:txBody>
      </p:sp>
      <p:sp>
        <p:nvSpPr>
          <p:cNvPr id="14" name="TextBox 34">
            <a:extLst>
              <a:ext uri="{FF2B5EF4-FFF2-40B4-BE49-F238E27FC236}">
                <a16:creationId xmlns:a16="http://schemas.microsoft.com/office/drawing/2014/main" id="{6411DCA9-B310-90B2-3814-D69897FD2E9F}"/>
              </a:ext>
            </a:extLst>
          </p:cNvPr>
          <p:cNvSpPr txBox="1"/>
          <p:nvPr/>
        </p:nvSpPr>
        <p:spPr>
          <a:xfrm>
            <a:off x="5149850" y="1481704"/>
            <a:ext cx="1574061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Impinj M730/M830/U9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  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50 x 30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   TID Memory: 96-bit / 48-b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-</a:t>
            </a:r>
          </a:p>
        </p:txBody>
      </p:sp>
      <p:grpSp>
        <p:nvGrpSpPr>
          <p:cNvPr id="15" name="Group 49">
            <a:extLst>
              <a:ext uri="{FF2B5EF4-FFF2-40B4-BE49-F238E27FC236}">
                <a16:creationId xmlns:a16="http://schemas.microsoft.com/office/drawing/2014/main" id="{5ECA51FB-4F9F-00B6-684B-15747436BD44}"/>
              </a:ext>
            </a:extLst>
          </p:cNvPr>
          <p:cNvGrpSpPr/>
          <p:nvPr/>
        </p:nvGrpSpPr>
        <p:grpSpPr>
          <a:xfrm>
            <a:off x="5291723" y="1181384"/>
            <a:ext cx="1068900" cy="209032"/>
            <a:chOff x="0" y="0"/>
            <a:chExt cx="185707" cy="65033"/>
          </a:xfrm>
        </p:grpSpPr>
        <p:sp>
          <p:nvSpPr>
            <p:cNvPr id="16" name="Freeform 50">
              <a:extLst>
                <a:ext uri="{FF2B5EF4-FFF2-40B4-BE49-F238E27FC236}">
                  <a16:creationId xmlns:a16="http://schemas.microsoft.com/office/drawing/2014/main" id="{3767DF69-2A38-B5B0-A173-D2B4480D2FC1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" name="TextBox 51">
              <a:extLst>
                <a:ext uri="{FF2B5EF4-FFF2-40B4-BE49-F238E27FC236}">
                  <a16:creationId xmlns:a16="http://schemas.microsoft.com/office/drawing/2014/main" id="{112A9519-E235-394A-2500-C10922776230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1" name="TextBox 52">
            <a:extLst>
              <a:ext uri="{FF2B5EF4-FFF2-40B4-BE49-F238E27FC236}">
                <a16:creationId xmlns:a16="http://schemas.microsoft.com/office/drawing/2014/main" id="{69EEFD98-7EC3-AB72-D2F9-A653596346EA}"/>
              </a:ext>
            </a:extLst>
          </p:cNvPr>
          <p:cNvSpPr txBox="1"/>
          <p:nvPr/>
        </p:nvSpPr>
        <p:spPr>
          <a:xfrm>
            <a:off x="5375624" y="1214927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1D6DF3B-53DE-00AD-6207-07CC0CF14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11" y="775057"/>
            <a:ext cx="2427412" cy="19345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1E8DBCB-5AD2-AF91-0FDC-3655C5F2A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155" y="7632700"/>
            <a:ext cx="1889924" cy="1318374"/>
          </a:xfrm>
          <a:prstGeom prst="rect">
            <a:avLst/>
          </a:prstGeom>
        </p:spPr>
      </p:pic>
      <p:sp>
        <p:nvSpPr>
          <p:cNvPr id="25" name="TextBox 22">
            <a:extLst>
              <a:ext uri="{FF2B5EF4-FFF2-40B4-BE49-F238E27FC236}">
                <a16:creationId xmlns:a16="http://schemas.microsoft.com/office/drawing/2014/main" id="{7EE97516-C4E5-758B-18AA-DB1AF98A696C}"/>
              </a:ext>
            </a:extLst>
          </p:cNvPr>
          <p:cNvSpPr txBox="1"/>
          <p:nvPr/>
        </p:nvSpPr>
        <p:spPr>
          <a:xfrm>
            <a:off x="5187885" y="3997829"/>
            <a:ext cx="1574061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Adept-2212</a:t>
            </a:r>
          </a:p>
        </p:txBody>
      </p:sp>
      <p:sp>
        <p:nvSpPr>
          <p:cNvPr id="26" name="TextBox 34">
            <a:extLst>
              <a:ext uri="{FF2B5EF4-FFF2-40B4-BE49-F238E27FC236}">
                <a16:creationId xmlns:a16="http://schemas.microsoft.com/office/drawing/2014/main" id="{E156243C-8127-E0A4-1085-32CFEDA3A1E2}"/>
              </a:ext>
            </a:extLst>
          </p:cNvPr>
          <p:cNvSpPr txBox="1"/>
          <p:nvPr/>
        </p:nvSpPr>
        <p:spPr>
          <a:xfrm>
            <a:off x="5187885" y="4564926"/>
            <a:ext cx="1574061" cy="1160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Impinj M730/M830/U9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  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22 x 12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   TID Memory: 96-bit / 48-b</a:t>
            </a:r>
          </a:p>
        </p:txBody>
      </p:sp>
      <p:grpSp>
        <p:nvGrpSpPr>
          <p:cNvPr id="27" name="Group 49">
            <a:extLst>
              <a:ext uri="{FF2B5EF4-FFF2-40B4-BE49-F238E27FC236}">
                <a16:creationId xmlns:a16="http://schemas.microsoft.com/office/drawing/2014/main" id="{180B8AD0-586D-1C0A-376B-4B85DBB675CC}"/>
              </a:ext>
            </a:extLst>
          </p:cNvPr>
          <p:cNvGrpSpPr/>
          <p:nvPr/>
        </p:nvGrpSpPr>
        <p:grpSpPr>
          <a:xfrm>
            <a:off x="5329758" y="4264606"/>
            <a:ext cx="1068900" cy="209032"/>
            <a:chOff x="0" y="0"/>
            <a:chExt cx="185707" cy="65033"/>
          </a:xfrm>
        </p:grpSpPr>
        <p:sp>
          <p:nvSpPr>
            <p:cNvPr id="28" name="Freeform 50">
              <a:extLst>
                <a:ext uri="{FF2B5EF4-FFF2-40B4-BE49-F238E27FC236}">
                  <a16:creationId xmlns:a16="http://schemas.microsoft.com/office/drawing/2014/main" id="{12DC4D8F-2286-F23A-52D4-CBFC7FB2A3D2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9" name="TextBox 51">
              <a:extLst>
                <a:ext uri="{FF2B5EF4-FFF2-40B4-BE49-F238E27FC236}">
                  <a16:creationId xmlns:a16="http://schemas.microsoft.com/office/drawing/2014/main" id="{E9A888AC-C1A6-B396-5462-C87EB4E874C5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0" name="TextBox 52">
            <a:extLst>
              <a:ext uri="{FF2B5EF4-FFF2-40B4-BE49-F238E27FC236}">
                <a16:creationId xmlns:a16="http://schemas.microsoft.com/office/drawing/2014/main" id="{F3DF0DE2-DE47-32CA-331C-123946798F0A}"/>
              </a:ext>
            </a:extLst>
          </p:cNvPr>
          <p:cNvSpPr txBox="1"/>
          <p:nvPr/>
        </p:nvSpPr>
        <p:spPr>
          <a:xfrm>
            <a:off x="5436794" y="4305311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4E23DCD-5494-53FE-9963-BE76E86DD0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554" y="4102345"/>
            <a:ext cx="2143125" cy="2143125"/>
          </a:xfrm>
          <a:prstGeom prst="rect">
            <a:avLst/>
          </a:prstGeom>
        </p:spPr>
      </p:pic>
      <p:sp>
        <p:nvSpPr>
          <p:cNvPr id="33" name="TextBox 22">
            <a:extLst>
              <a:ext uri="{FF2B5EF4-FFF2-40B4-BE49-F238E27FC236}">
                <a16:creationId xmlns:a16="http://schemas.microsoft.com/office/drawing/2014/main" id="{CF72BBD5-72E9-76B3-CD15-4C7FE81B82F1}"/>
              </a:ext>
            </a:extLst>
          </p:cNvPr>
          <p:cNvSpPr txBox="1"/>
          <p:nvPr/>
        </p:nvSpPr>
        <p:spPr>
          <a:xfrm>
            <a:off x="5334451" y="7323130"/>
            <a:ext cx="1574061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Adept-2211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575C9521-74FA-0E05-0BEF-5820D5459E9D}"/>
              </a:ext>
            </a:extLst>
          </p:cNvPr>
          <p:cNvSpPr txBox="1"/>
          <p:nvPr/>
        </p:nvSpPr>
        <p:spPr>
          <a:xfrm>
            <a:off x="5334451" y="7890227"/>
            <a:ext cx="1574061" cy="1160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Impinj M730/M830/U9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  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22 x 11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   TID Memory: 96-bit / 48-b</a:t>
            </a:r>
          </a:p>
        </p:txBody>
      </p:sp>
      <p:grpSp>
        <p:nvGrpSpPr>
          <p:cNvPr id="35" name="Group 49">
            <a:extLst>
              <a:ext uri="{FF2B5EF4-FFF2-40B4-BE49-F238E27FC236}">
                <a16:creationId xmlns:a16="http://schemas.microsoft.com/office/drawing/2014/main" id="{AC02AB09-B83E-91C1-D9C8-7CF454E8C64D}"/>
              </a:ext>
            </a:extLst>
          </p:cNvPr>
          <p:cNvGrpSpPr/>
          <p:nvPr/>
        </p:nvGrpSpPr>
        <p:grpSpPr>
          <a:xfrm>
            <a:off x="5476324" y="7589907"/>
            <a:ext cx="1068900" cy="209032"/>
            <a:chOff x="0" y="0"/>
            <a:chExt cx="185707" cy="65033"/>
          </a:xfrm>
        </p:grpSpPr>
        <p:sp>
          <p:nvSpPr>
            <p:cNvPr id="36" name="Freeform 50">
              <a:extLst>
                <a:ext uri="{FF2B5EF4-FFF2-40B4-BE49-F238E27FC236}">
                  <a16:creationId xmlns:a16="http://schemas.microsoft.com/office/drawing/2014/main" id="{F88FA9C2-429B-B35A-1CCB-CEF36B135AB2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" name="TextBox 51">
              <a:extLst>
                <a:ext uri="{FF2B5EF4-FFF2-40B4-BE49-F238E27FC236}">
                  <a16:creationId xmlns:a16="http://schemas.microsoft.com/office/drawing/2014/main" id="{3E1C2FC2-9EB0-DFB1-4052-D39FCBBB24A9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8" name="TextBox 52">
            <a:extLst>
              <a:ext uri="{FF2B5EF4-FFF2-40B4-BE49-F238E27FC236}">
                <a16:creationId xmlns:a16="http://schemas.microsoft.com/office/drawing/2014/main" id="{1FBAD9EC-DF0E-79DF-D00E-E114D7937434}"/>
              </a:ext>
            </a:extLst>
          </p:cNvPr>
          <p:cNvSpPr txBox="1"/>
          <p:nvPr/>
        </p:nvSpPr>
        <p:spPr>
          <a:xfrm>
            <a:off x="5583360" y="7630612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2" name="TextBox 42">
            <a:extLst>
              <a:ext uri="{FF2B5EF4-FFF2-40B4-BE49-F238E27FC236}">
                <a16:creationId xmlns:a16="http://schemas.microsoft.com/office/drawing/2014/main" id="{910B8190-5CB7-FC30-3529-E6F7E7E331F6}"/>
              </a:ext>
            </a:extLst>
          </p:cNvPr>
          <p:cNvSpPr txBox="1"/>
          <p:nvPr/>
        </p:nvSpPr>
        <p:spPr>
          <a:xfrm>
            <a:off x="441155" y="10360760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3" name="TextBox 43">
            <a:extLst>
              <a:ext uri="{FF2B5EF4-FFF2-40B4-BE49-F238E27FC236}">
                <a16:creationId xmlns:a16="http://schemas.microsoft.com/office/drawing/2014/main" id="{6CFB04E7-2C2E-8134-42D5-0776C56B84C7}"/>
              </a:ext>
            </a:extLst>
          </p:cNvPr>
          <p:cNvSpPr txBox="1"/>
          <p:nvPr/>
        </p:nvSpPr>
        <p:spPr>
          <a:xfrm>
            <a:off x="441155" y="10168834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4" name="AutoShape 44">
            <a:extLst>
              <a:ext uri="{FF2B5EF4-FFF2-40B4-BE49-F238E27FC236}">
                <a16:creationId xmlns:a16="http://schemas.microsoft.com/office/drawing/2014/main" id="{1DDE6BA4-C96E-C6A0-6D56-595A9FDE6797}"/>
              </a:ext>
            </a:extLst>
          </p:cNvPr>
          <p:cNvSpPr/>
          <p:nvPr/>
        </p:nvSpPr>
        <p:spPr>
          <a:xfrm>
            <a:off x="2452675" y="10486172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310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8">
            <a:extLst>
              <a:ext uri="{FF2B5EF4-FFF2-40B4-BE49-F238E27FC236}">
                <a16:creationId xmlns:a16="http://schemas.microsoft.com/office/drawing/2014/main" id="{AC39C0FE-6888-B916-31EF-51670CEBCEA3}"/>
              </a:ext>
            </a:extLst>
          </p:cNvPr>
          <p:cNvSpPr txBox="1"/>
          <p:nvPr/>
        </p:nvSpPr>
        <p:spPr>
          <a:xfrm>
            <a:off x="5199792" y="1367350"/>
            <a:ext cx="1695604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Outfit-6525</a:t>
            </a:r>
          </a:p>
        </p:txBody>
      </p:sp>
      <p:sp>
        <p:nvSpPr>
          <p:cNvPr id="3" name="TextBox 34">
            <a:extLst>
              <a:ext uri="{FF2B5EF4-FFF2-40B4-BE49-F238E27FC236}">
                <a16:creationId xmlns:a16="http://schemas.microsoft.com/office/drawing/2014/main" id="{862F94A8-9827-39ED-60DE-3EECF2DA3C73}"/>
              </a:ext>
            </a:extLst>
          </p:cNvPr>
          <p:cNvSpPr txBox="1"/>
          <p:nvPr/>
        </p:nvSpPr>
        <p:spPr>
          <a:xfrm>
            <a:off x="5117099" y="1990124"/>
            <a:ext cx="1778297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Impinj M730/M830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65 x 25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Inlay Size : 45x18 mm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TID Memory: 96-bit / 48-b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Application : Apparels, Shoes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sp>
        <p:nvSpPr>
          <p:cNvPr id="4" name="TextBox 42">
            <a:extLst>
              <a:ext uri="{FF2B5EF4-FFF2-40B4-BE49-F238E27FC236}">
                <a16:creationId xmlns:a16="http://schemas.microsoft.com/office/drawing/2014/main" id="{194687AB-79C8-9F5C-6EB2-603F1724F839}"/>
              </a:ext>
            </a:extLst>
          </p:cNvPr>
          <p:cNvSpPr txBox="1"/>
          <p:nvPr/>
        </p:nvSpPr>
        <p:spPr>
          <a:xfrm>
            <a:off x="344658" y="10229585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93AE0166-318B-8750-3330-95D1218EEC90}"/>
              </a:ext>
            </a:extLst>
          </p:cNvPr>
          <p:cNvSpPr txBox="1"/>
          <p:nvPr/>
        </p:nvSpPr>
        <p:spPr>
          <a:xfrm>
            <a:off x="344658" y="10037659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6" name="AutoShape 44">
            <a:extLst>
              <a:ext uri="{FF2B5EF4-FFF2-40B4-BE49-F238E27FC236}">
                <a16:creationId xmlns:a16="http://schemas.microsoft.com/office/drawing/2014/main" id="{45C5115F-534D-FBCA-3DC5-4EC63A544F64}"/>
              </a:ext>
            </a:extLst>
          </p:cNvPr>
          <p:cNvSpPr/>
          <p:nvPr/>
        </p:nvSpPr>
        <p:spPr>
          <a:xfrm>
            <a:off x="2356178" y="10354997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45">
            <a:extLst>
              <a:ext uri="{FF2B5EF4-FFF2-40B4-BE49-F238E27FC236}">
                <a16:creationId xmlns:a16="http://schemas.microsoft.com/office/drawing/2014/main" id="{247A5BF9-B0A0-F457-0CF2-C31DD7D911F7}"/>
              </a:ext>
            </a:extLst>
          </p:cNvPr>
          <p:cNvGrpSpPr/>
          <p:nvPr/>
        </p:nvGrpSpPr>
        <p:grpSpPr>
          <a:xfrm>
            <a:off x="344658" y="247581"/>
            <a:ext cx="7014992" cy="731771"/>
            <a:chOff x="0" y="0"/>
            <a:chExt cx="1128171" cy="174195"/>
          </a:xfrm>
        </p:grpSpPr>
        <p:sp>
          <p:nvSpPr>
            <p:cNvPr id="8" name="Freeform 46">
              <a:extLst>
                <a:ext uri="{FF2B5EF4-FFF2-40B4-BE49-F238E27FC236}">
                  <a16:creationId xmlns:a16="http://schemas.microsoft.com/office/drawing/2014/main" id="{92F20316-A3F2-48C6-B637-74C12728A121}"/>
                </a:ext>
              </a:extLst>
            </p:cNvPr>
            <p:cNvSpPr/>
            <p:nvPr/>
          </p:nvSpPr>
          <p:spPr>
            <a:xfrm>
              <a:off x="0" y="0"/>
              <a:ext cx="1128171" cy="174195"/>
            </a:xfrm>
            <a:custGeom>
              <a:avLst/>
              <a:gdLst/>
              <a:ahLst/>
              <a:cxnLst/>
              <a:rect l="l" t="t" r="r" b="b"/>
              <a:pathLst>
                <a:path w="1128171" h="174195">
                  <a:moveTo>
                    <a:pt x="87098" y="0"/>
                  </a:moveTo>
                  <a:lnTo>
                    <a:pt x="1041073" y="0"/>
                  </a:lnTo>
                  <a:cubicBezTo>
                    <a:pt x="1089176" y="0"/>
                    <a:pt x="1128171" y="38995"/>
                    <a:pt x="1128171" y="87098"/>
                  </a:cubicBezTo>
                  <a:lnTo>
                    <a:pt x="1128171" y="87098"/>
                  </a:lnTo>
                  <a:cubicBezTo>
                    <a:pt x="1128171" y="135200"/>
                    <a:pt x="1089176" y="174195"/>
                    <a:pt x="1041073" y="174195"/>
                  </a:cubicBezTo>
                  <a:lnTo>
                    <a:pt x="87098" y="174195"/>
                  </a:lnTo>
                  <a:cubicBezTo>
                    <a:pt x="38995" y="174195"/>
                    <a:pt x="0" y="135200"/>
                    <a:pt x="0" y="87098"/>
                  </a:cubicBezTo>
                  <a:lnTo>
                    <a:pt x="0" y="87098"/>
                  </a:lnTo>
                  <a:cubicBezTo>
                    <a:pt x="0" y="38995"/>
                    <a:pt x="38995" y="0"/>
                    <a:pt x="8709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47">
              <a:extLst>
                <a:ext uri="{FF2B5EF4-FFF2-40B4-BE49-F238E27FC236}">
                  <a16:creationId xmlns:a16="http://schemas.microsoft.com/office/drawing/2014/main" id="{9BE096F2-F34C-BB16-9793-C6D644668439}"/>
                </a:ext>
              </a:extLst>
            </p:cNvPr>
            <p:cNvSpPr txBox="1"/>
            <p:nvPr/>
          </p:nvSpPr>
          <p:spPr>
            <a:xfrm>
              <a:off x="0" y="-57150"/>
              <a:ext cx="1128171" cy="23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0" name="TextBox 48">
            <a:extLst>
              <a:ext uri="{FF2B5EF4-FFF2-40B4-BE49-F238E27FC236}">
                <a16:creationId xmlns:a16="http://schemas.microsoft.com/office/drawing/2014/main" id="{E7FE4045-B2D9-E579-B39E-C3A1DB88AE5B}"/>
              </a:ext>
            </a:extLst>
          </p:cNvPr>
          <p:cNvSpPr txBox="1"/>
          <p:nvPr/>
        </p:nvSpPr>
        <p:spPr>
          <a:xfrm>
            <a:off x="0" y="332382"/>
            <a:ext cx="7359650" cy="28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1400" b="1" spc="553" dirty="0">
                <a:solidFill>
                  <a:srgbClr val="000000"/>
                </a:solidFill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RFID Hang Tags &amp; Taffeta Tags for Retail</a:t>
            </a:r>
          </a:p>
        </p:txBody>
      </p:sp>
      <p:grpSp>
        <p:nvGrpSpPr>
          <p:cNvPr id="11" name="Group 49">
            <a:extLst>
              <a:ext uri="{FF2B5EF4-FFF2-40B4-BE49-F238E27FC236}">
                <a16:creationId xmlns:a16="http://schemas.microsoft.com/office/drawing/2014/main" id="{B8D1E6BC-077B-F333-212F-6972E18074C2}"/>
              </a:ext>
            </a:extLst>
          </p:cNvPr>
          <p:cNvGrpSpPr/>
          <p:nvPr/>
        </p:nvGrpSpPr>
        <p:grpSpPr>
          <a:xfrm>
            <a:off x="5225993" y="1650549"/>
            <a:ext cx="1112469" cy="253688"/>
            <a:chOff x="0" y="0"/>
            <a:chExt cx="185707" cy="65033"/>
          </a:xfrm>
        </p:grpSpPr>
        <p:sp>
          <p:nvSpPr>
            <p:cNvPr id="12" name="Freeform 50">
              <a:extLst>
                <a:ext uri="{FF2B5EF4-FFF2-40B4-BE49-F238E27FC236}">
                  <a16:creationId xmlns:a16="http://schemas.microsoft.com/office/drawing/2014/main" id="{E7644E4E-BCDE-1633-0735-18F60FA50961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51">
              <a:extLst>
                <a:ext uri="{FF2B5EF4-FFF2-40B4-BE49-F238E27FC236}">
                  <a16:creationId xmlns:a16="http://schemas.microsoft.com/office/drawing/2014/main" id="{84E98837-C23B-9662-BEA7-27B761191F16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4" name="TextBox 52">
            <a:extLst>
              <a:ext uri="{FF2B5EF4-FFF2-40B4-BE49-F238E27FC236}">
                <a16:creationId xmlns:a16="http://schemas.microsoft.com/office/drawing/2014/main" id="{E5657F4C-FE82-C6D2-1FD3-934B235B5786}"/>
              </a:ext>
            </a:extLst>
          </p:cNvPr>
          <p:cNvSpPr txBox="1"/>
          <p:nvPr/>
        </p:nvSpPr>
        <p:spPr>
          <a:xfrm>
            <a:off x="5315862" y="1682411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5E19EDD-64F9-A1BE-80BB-DB3E713B1C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67100">
            <a:off x="278157" y="1245630"/>
            <a:ext cx="3801664" cy="2385608"/>
          </a:xfrm>
          <a:prstGeom prst="rect">
            <a:avLst/>
          </a:prstGeom>
        </p:spPr>
      </p:pic>
      <p:sp>
        <p:nvSpPr>
          <p:cNvPr id="38" name="TextBox 18">
            <a:extLst>
              <a:ext uri="{FF2B5EF4-FFF2-40B4-BE49-F238E27FC236}">
                <a16:creationId xmlns:a16="http://schemas.microsoft.com/office/drawing/2014/main" id="{8327DC3D-4DFF-267D-6890-65D84CD2563A}"/>
              </a:ext>
            </a:extLst>
          </p:cNvPr>
          <p:cNvSpPr txBox="1"/>
          <p:nvPr/>
        </p:nvSpPr>
        <p:spPr>
          <a:xfrm>
            <a:off x="5347374" y="4380078"/>
            <a:ext cx="1695604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Outfit-6525</a:t>
            </a:r>
          </a:p>
        </p:txBody>
      </p:sp>
      <p:sp>
        <p:nvSpPr>
          <p:cNvPr id="39" name="TextBox 34">
            <a:extLst>
              <a:ext uri="{FF2B5EF4-FFF2-40B4-BE49-F238E27FC236}">
                <a16:creationId xmlns:a16="http://schemas.microsoft.com/office/drawing/2014/main" id="{83EC32CB-506E-1197-7A84-600F877CAE5E}"/>
              </a:ext>
            </a:extLst>
          </p:cNvPr>
          <p:cNvSpPr txBox="1"/>
          <p:nvPr/>
        </p:nvSpPr>
        <p:spPr>
          <a:xfrm>
            <a:off x="5264681" y="5002852"/>
            <a:ext cx="1778297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Impinj M730/M830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65 x 25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Inlay Size : 45x18 mm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TID Memory: 96-bit / 48-b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Application : Apparels, Shoes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40" name="Group 49">
            <a:extLst>
              <a:ext uri="{FF2B5EF4-FFF2-40B4-BE49-F238E27FC236}">
                <a16:creationId xmlns:a16="http://schemas.microsoft.com/office/drawing/2014/main" id="{C085DBC8-4BD9-8640-9762-7799EEA23972}"/>
              </a:ext>
            </a:extLst>
          </p:cNvPr>
          <p:cNvGrpSpPr/>
          <p:nvPr/>
        </p:nvGrpSpPr>
        <p:grpSpPr>
          <a:xfrm>
            <a:off x="5373575" y="4663277"/>
            <a:ext cx="1112469" cy="253688"/>
            <a:chOff x="0" y="0"/>
            <a:chExt cx="185707" cy="65033"/>
          </a:xfrm>
        </p:grpSpPr>
        <p:sp>
          <p:nvSpPr>
            <p:cNvPr id="41" name="Freeform 50">
              <a:extLst>
                <a:ext uri="{FF2B5EF4-FFF2-40B4-BE49-F238E27FC236}">
                  <a16:creationId xmlns:a16="http://schemas.microsoft.com/office/drawing/2014/main" id="{FCD83CF0-EB13-A1F0-B1BF-604D0CBA4843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2" name="TextBox 51">
              <a:extLst>
                <a:ext uri="{FF2B5EF4-FFF2-40B4-BE49-F238E27FC236}">
                  <a16:creationId xmlns:a16="http://schemas.microsoft.com/office/drawing/2014/main" id="{365BB256-54E4-3CD6-B906-F0731AF57723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3" name="TextBox 52">
            <a:extLst>
              <a:ext uri="{FF2B5EF4-FFF2-40B4-BE49-F238E27FC236}">
                <a16:creationId xmlns:a16="http://schemas.microsoft.com/office/drawing/2014/main" id="{D0EA4512-D746-7D85-475B-ED0B341DD23A}"/>
              </a:ext>
            </a:extLst>
          </p:cNvPr>
          <p:cNvSpPr txBox="1"/>
          <p:nvPr/>
        </p:nvSpPr>
        <p:spPr>
          <a:xfrm>
            <a:off x="5463444" y="4695139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45" name="TextBox 18">
            <a:extLst>
              <a:ext uri="{FF2B5EF4-FFF2-40B4-BE49-F238E27FC236}">
                <a16:creationId xmlns:a16="http://schemas.microsoft.com/office/drawing/2014/main" id="{EA828639-6934-556F-ED34-6AB540EB75E9}"/>
              </a:ext>
            </a:extLst>
          </p:cNvPr>
          <p:cNvSpPr txBox="1"/>
          <p:nvPr/>
        </p:nvSpPr>
        <p:spPr>
          <a:xfrm>
            <a:off x="5376980" y="7378066"/>
            <a:ext cx="1695604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Outfit-6535</a:t>
            </a:r>
          </a:p>
        </p:txBody>
      </p:sp>
      <p:sp>
        <p:nvSpPr>
          <p:cNvPr id="46" name="TextBox 34">
            <a:extLst>
              <a:ext uri="{FF2B5EF4-FFF2-40B4-BE49-F238E27FC236}">
                <a16:creationId xmlns:a16="http://schemas.microsoft.com/office/drawing/2014/main" id="{861E928C-43AE-83F2-8FA8-6948CB3FE22C}"/>
              </a:ext>
            </a:extLst>
          </p:cNvPr>
          <p:cNvSpPr txBox="1"/>
          <p:nvPr/>
        </p:nvSpPr>
        <p:spPr>
          <a:xfrm>
            <a:off x="5294287" y="8000840"/>
            <a:ext cx="1778297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Impinj M730/M830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65 x 35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Inlay Size : 50x30 mm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TID Memory: 96-bit / 48-b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Application : Apparels, Shoes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47" name="Group 49">
            <a:extLst>
              <a:ext uri="{FF2B5EF4-FFF2-40B4-BE49-F238E27FC236}">
                <a16:creationId xmlns:a16="http://schemas.microsoft.com/office/drawing/2014/main" id="{3F37C8CA-60C3-453B-300E-30DF5CB63033}"/>
              </a:ext>
            </a:extLst>
          </p:cNvPr>
          <p:cNvGrpSpPr/>
          <p:nvPr/>
        </p:nvGrpSpPr>
        <p:grpSpPr>
          <a:xfrm>
            <a:off x="5403181" y="7661265"/>
            <a:ext cx="1112469" cy="253688"/>
            <a:chOff x="0" y="0"/>
            <a:chExt cx="185707" cy="65033"/>
          </a:xfrm>
        </p:grpSpPr>
        <p:sp>
          <p:nvSpPr>
            <p:cNvPr id="48" name="Freeform 50">
              <a:extLst>
                <a:ext uri="{FF2B5EF4-FFF2-40B4-BE49-F238E27FC236}">
                  <a16:creationId xmlns:a16="http://schemas.microsoft.com/office/drawing/2014/main" id="{44D69C7D-E83A-7F89-3E9C-723C296E389E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9" name="TextBox 51">
              <a:extLst>
                <a:ext uri="{FF2B5EF4-FFF2-40B4-BE49-F238E27FC236}">
                  <a16:creationId xmlns:a16="http://schemas.microsoft.com/office/drawing/2014/main" id="{5E79C989-15C0-D5A5-5D74-26519FAB79A5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0" name="TextBox 52">
            <a:extLst>
              <a:ext uri="{FF2B5EF4-FFF2-40B4-BE49-F238E27FC236}">
                <a16:creationId xmlns:a16="http://schemas.microsoft.com/office/drawing/2014/main" id="{67E1211F-EB70-0C19-3587-D355CBE2C1BE}"/>
              </a:ext>
            </a:extLst>
          </p:cNvPr>
          <p:cNvSpPr txBox="1"/>
          <p:nvPr/>
        </p:nvSpPr>
        <p:spPr>
          <a:xfrm>
            <a:off x="5493050" y="7693127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5E325DA-9890-B252-C09B-EC46A70485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678" y="3553989"/>
            <a:ext cx="1829000" cy="329383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97C4CB9-6B8E-B180-A014-10C3D5CD90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16" y="7398492"/>
            <a:ext cx="2496524" cy="228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789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96">
            <a:extLst>
              <a:ext uri="{FF2B5EF4-FFF2-40B4-BE49-F238E27FC236}">
                <a16:creationId xmlns:a16="http://schemas.microsoft.com/office/drawing/2014/main" id="{8FEA337C-AA8E-3DDD-EC81-A6D8815BD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16" y="1674353"/>
            <a:ext cx="3429000" cy="21481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8" name="TextBox 22">
            <a:extLst>
              <a:ext uri="{FF2B5EF4-FFF2-40B4-BE49-F238E27FC236}">
                <a16:creationId xmlns:a16="http://schemas.microsoft.com/office/drawing/2014/main" id="{2D1EC9BE-20BC-A618-F8D6-9C9CA1DD9A16}"/>
              </a:ext>
            </a:extLst>
          </p:cNvPr>
          <p:cNvSpPr txBox="1"/>
          <p:nvPr/>
        </p:nvSpPr>
        <p:spPr>
          <a:xfrm>
            <a:off x="5073650" y="4179981"/>
            <a:ext cx="1914967" cy="20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2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Adept-9812 Label</a:t>
            </a:r>
          </a:p>
        </p:txBody>
      </p:sp>
      <p:sp>
        <p:nvSpPr>
          <p:cNvPr id="109" name="TextBox 34">
            <a:extLst>
              <a:ext uri="{FF2B5EF4-FFF2-40B4-BE49-F238E27FC236}">
                <a16:creationId xmlns:a16="http://schemas.microsoft.com/office/drawing/2014/main" id="{A6B3814F-966B-5411-3E0E-9955B4B712E7}"/>
              </a:ext>
            </a:extLst>
          </p:cNvPr>
          <p:cNvSpPr txBox="1"/>
          <p:nvPr/>
        </p:nvSpPr>
        <p:spPr>
          <a:xfrm>
            <a:off x="5216083" y="4761284"/>
            <a:ext cx="1574061" cy="1660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Higgs 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  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98 x 12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   TID Memory: 96-bit / 48-b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Solar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110" name="Group 49">
            <a:extLst>
              <a:ext uri="{FF2B5EF4-FFF2-40B4-BE49-F238E27FC236}">
                <a16:creationId xmlns:a16="http://schemas.microsoft.com/office/drawing/2014/main" id="{1D945D09-EC49-F631-4322-9190C698A3B1}"/>
              </a:ext>
            </a:extLst>
          </p:cNvPr>
          <p:cNvGrpSpPr/>
          <p:nvPr/>
        </p:nvGrpSpPr>
        <p:grpSpPr>
          <a:xfrm>
            <a:off x="5357956" y="4460964"/>
            <a:ext cx="1068900" cy="262532"/>
            <a:chOff x="0" y="0"/>
            <a:chExt cx="185707" cy="65033"/>
          </a:xfrm>
        </p:grpSpPr>
        <p:sp>
          <p:nvSpPr>
            <p:cNvPr id="111" name="Freeform 50">
              <a:extLst>
                <a:ext uri="{FF2B5EF4-FFF2-40B4-BE49-F238E27FC236}">
                  <a16:creationId xmlns:a16="http://schemas.microsoft.com/office/drawing/2014/main" id="{7D5AE457-7D7F-6A97-233A-7812C0C55158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2" name="TextBox 51">
              <a:extLst>
                <a:ext uri="{FF2B5EF4-FFF2-40B4-BE49-F238E27FC236}">
                  <a16:creationId xmlns:a16="http://schemas.microsoft.com/office/drawing/2014/main" id="{05EA1B7A-1C05-96D7-3019-6E358B3500A5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3" name="TextBox 52">
            <a:extLst>
              <a:ext uri="{FF2B5EF4-FFF2-40B4-BE49-F238E27FC236}">
                <a16:creationId xmlns:a16="http://schemas.microsoft.com/office/drawing/2014/main" id="{1BB19687-1AF8-83DD-4F55-1C1C5E9560D9}"/>
              </a:ext>
            </a:extLst>
          </p:cNvPr>
          <p:cNvSpPr txBox="1"/>
          <p:nvPr/>
        </p:nvSpPr>
        <p:spPr>
          <a:xfrm>
            <a:off x="5464992" y="4501669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21B695-1E6A-BDFD-84ED-75012A1023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47" y="4651308"/>
            <a:ext cx="3778249" cy="1314132"/>
          </a:xfrm>
          <a:prstGeom prst="rect">
            <a:avLst/>
          </a:prstGeom>
        </p:spPr>
      </p:pic>
      <p:sp>
        <p:nvSpPr>
          <p:cNvPr id="4" name="TextBox 22">
            <a:extLst>
              <a:ext uri="{FF2B5EF4-FFF2-40B4-BE49-F238E27FC236}">
                <a16:creationId xmlns:a16="http://schemas.microsoft.com/office/drawing/2014/main" id="{CDBFB975-9A9F-8747-876E-ADBF52FC12AF}"/>
              </a:ext>
            </a:extLst>
          </p:cNvPr>
          <p:cNvSpPr txBox="1"/>
          <p:nvPr/>
        </p:nvSpPr>
        <p:spPr>
          <a:xfrm>
            <a:off x="5216083" y="1863388"/>
            <a:ext cx="1574061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Adept-9812</a:t>
            </a:r>
          </a:p>
        </p:txBody>
      </p:sp>
      <p:sp>
        <p:nvSpPr>
          <p:cNvPr id="5" name="TextBox 34">
            <a:extLst>
              <a:ext uri="{FF2B5EF4-FFF2-40B4-BE49-F238E27FC236}">
                <a16:creationId xmlns:a16="http://schemas.microsoft.com/office/drawing/2014/main" id="{F33B9C68-E085-F970-19A6-3C94E3C2C278}"/>
              </a:ext>
            </a:extLst>
          </p:cNvPr>
          <p:cNvSpPr txBox="1"/>
          <p:nvPr/>
        </p:nvSpPr>
        <p:spPr>
          <a:xfrm>
            <a:off x="5216083" y="2430485"/>
            <a:ext cx="1574061" cy="1494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Higgs 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  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98 x 12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   TID Memory: 96-bit / 48-b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Solar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6" name="Group 49">
            <a:extLst>
              <a:ext uri="{FF2B5EF4-FFF2-40B4-BE49-F238E27FC236}">
                <a16:creationId xmlns:a16="http://schemas.microsoft.com/office/drawing/2014/main" id="{3AB1534A-8084-D10E-05FE-03A277B012AB}"/>
              </a:ext>
            </a:extLst>
          </p:cNvPr>
          <p:cNvGrpSpPr/>
          <p:nvPr/>
        </p:nvGrpSpPr>
        <p:grpSpPr>
          <a:xfrm>
            <a:off x="5357956" y="2130165"/>
            <a:ext cx="1068900" cy="262532"/>
            <a:chOff x="0" y="0"/>
            <a:chExt cx="185707" cy="65033"/>
          </a:xfrm>
        </p:grpSpPr>
        <p:sp>
          <p:nvSpPr>
            <p:cNvPr id="7" name="Freeform 50">
              <a:extLst>
                <a:ext uri="{FF2B5EF4-FFF2-40B4-BE49-F238E27FC236}">
                  <a16:creationId xmlns:a16="http://schemas.microsoft.com/office/drawing/2014/main" id="{A5B4C25E-EAD5-A8B1-F95B-0AC3E4459718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51">
              <a:extLst>
                <a:ext uri="{FF2B5EF4-FFF2-40B4-BE49-F238E27FC236}">
                  <a16:creationId xmlns:a16="http://schemas.microsoft.com/office/drawing/2014/main" id="{2F42791B-9FE4-BF81-01B8-9E8E5AC849C1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9" name="TextBox 52">
            <a:extLst>
              <a:ext uri="{FF2B5EF4-FFF2-40B4-BE49-F238E27FC236}">
                <a16:creationId xmlns:a16="http://schemas.microsoft.com/office/drawing/2014/main" id="{73CF61D4-D111-8CC8-318F-F73847541DFC}"/>
              </a:ext>
            </a:extLst>
          </p:cNvPr>
          <p:cNvSpPr txBox="1"/>
          <p:nvPr/>
        </p:nvSpPr>
        <p:spPr>
          <a:xfrm>
            <a:off x="5464992" y="2194618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grpSp>
        <p:nvGrpSpPr>
          <p:cNvPr id="12" name="Group 45">
            <a:extLst>
              <a:ext uri="{FF2B5EF4-FFF2-40B4-BE49-F238E27FC236}">
                <a16:creationId xmlns:a16="http://schemas.microsoft.com/office/drawing/2014/main" id="{5E7EA706-2E77-A139-2926-8CBE549C1BBC}"/>
              </a:ext>
            </a:extLst>
          </p:cNvPr>
          <p:cNvGrpSpPr/>
          <p:nvPr/>
        </p:nvGrpSpPr>
        <p:grpSpPr>
          <a:xfrm>
            <a:off x="344658" y="247581"/>
            <a:ext cx="7014992" cy="731771"/>
            <a:chOff x="0" y="0"/>
            <a:chExt cx="1128171" cy="174195"/>
          </a:xfrm>
        </p:grpSpPr>
        <p:sp>
          <p:nvSpPr>
            <p:cNvPr id="13" name="Freeform 46">
              <a:extLst>
                <a:ext uri="{FF2B5EF4-FFF2-40B4-BE49-F238E27FC236}">
                  <a16:creationId xmlns:a16="http://schemas.microsoft.com/office/drawing/2014/main" id="{FC42A4E7-D0E5-63C2-94A8-7F7EF7CB8D49}"/>
                </a:ext>
              </a:extLst>
            </p:cNvPr>
            <p:cNvSpPr/>
            <p:nvPr/>
          </p:nvSpPr>
          <p:spPr>
            <a:xfrm>
              <a:off x="0" y="0"/>
              <a:ext cx="1128171" cy="174195"/>
            </a:xfrm>
            <a:custGeom>
              <a:avLst/>
              <a:gdLst/>
              <a:ahLst/>
              <a:cxnLst/>
              <a:rect l="l" t="t" r="r" b="b"/>
              <a:pathLst>
                <a:path w="1128171" h="174195">
                  <a:moveTo>
                    <a:pt x="87098" y="0"/>
                  </a:moveTo>
                  <a:lnTo>
                    <a:pt x="1041073" y="0"/>
                  </a:lnTo>
                  <a:cubicBezTo>
                    <a:pt x="1089176" y="0"/>
                    <a:pt x="1128171" y="38995"/>
                    <a:pt x="1128171" y="87098"/>
                  </a:cubicBezTo>
                  <a:lnTo>
                    <a:pt x="1128171" y="87098"/>
                  </a:lnTo>
                  <a:cubicBezTo>
                    <a:pt x="1128171" y="135200"/>
                    <a:pt x="1089176" y="174195"/>
                    <a:pt x="1041073" y="174195"/>
                  </a:cubicBezTo>
                  <a:lnTo>
                    <a:pt x="87098" y="174195"/>
                  </a:lnTo>
                  <a:cubicBezTo>
                    <a:pt x="38995" y="174195"/>
                    <a:pt x="0" y="135200"/>
                    <a:pt x="0" y="87098"/>
                  </a:cubicBezTo>
                  <a:lnTo>
                    <a:pt x="0" y="87098"/>
                  </a:lnTo>
                  <a:cubicBezTo>
                    <a:pt x="0" y="38995"/>
                    <a:pt x="38995" y="0"/>
                    <a:pt x="8709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47">
              <a:extLst>
                <a:ext uri="{FF2B5EF4-FFF2-40B4-BE49-F238E27FC236}">
                  <a16:creationId xmlns:a16="http://schemas.microsoft.com/office/drawing/2014/main" id="{CB8C3A67-350B-6887-4D40-BF27B201B14C}"/>
                </a:ext>
              </a:extLst>
            </p:cNvPr>
            <p:cNvSpPr txBox="1"/>
            <p:nvPr/>
          </p:nvSpPr>
          <p:spPr>
            <a:xfrm>
              <a:off x="0" y="-57150"/>
              <a:ext cx="1128171" cy="23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5" name="TextBox 48">
            <a:extLst>
              <a:ext uri="{FF2B5EF4-FFF2-40B4-BE49-F238E27FC236}">
                <a16:creationId xmlns:a16="http://schemas.microsoft.com/office/drawing/2014/main" id="{DA7AE790-4A98-AC6A-464F-4357F0A137BE}"/>
              </a:ext>
            </a:extLst>
          </p:cNvPr>
          <p:cNvSpPr txBox="1"/>
          <p:nvPr/>
        </p:nvSpPr>
        <p:spPr>
          <a:xfrm>
            <a:off x="0" y="332382"/>
            <a:ext cx="7359650" cy="28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1400" b="1" spc="553" dirty="0">
                <a:solidFill>
                  <a:srgbClr val="000000"/>
                </a:solidFill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RFID inlays/labels for Solar applications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99292E68-8EA0-E024-5AE9-E03A1B5C90FF}"/>
              </a:ext>
            </a:extLst>
          </p:cNvPr>
          <p:cNvSpPr txBox="1"/>
          <p:nvPr/>
        </p:nvSpPr>
        <p:spPr>
          <a:xfrm>
            <a:off x="5216083" y="6949455"/>
            <a:ext cx="1574061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Adept-9503</a:t>
            </a:r>
          </a:p>
        </p:txBody>
      </p:sp>
      <p:sp>
        <p:nvSpPr>
          <p:cNvPr id="21" name="TextBox 34">
            <a:extLst>
              <a:ext uri="{FF2B5EF4-FFF2-40B4-BE49-F238E27FC236}">
                <a16:creationId xmlns:a16="http://schemas.microsoft.com/office/drawing/2014/main" id="{EA83B8A5-65FB-5126-64F4-105A01D5D63A}"/>
              </a:ext>
            </a:extLst>
          </p:cNvPr>
          <p:cNvSpPr txBox="1"/>
          <p:nvPr/>
        </p:nvSpPr>
        <p:spPr>
          <a:xfrm>
            <a:off x="5216083" y="7516552"/>
            <a:ext cx="1574061" cy="1494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Higgs 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  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95 x 3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   TID Memory: 96-bit / 48-b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Solar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22" name="Group 49">
            <a:extLst>
              <a:ext uri="{FF2B5EF4-FFF2-40B4-BE49-F238E27FC236}">
                <a16:creationId xmlns:a16="http://schemas.microsoft.com/office/drawing/2014/main" id="{9CAFCBA4-B8F7-56E4-7DB7-30B416C92F00}"/>
              </a:ext>
            </a:extLst>
          </p:cNvPr>
          <p:cNvGrpSpPr/>
          <p:nvPr/>
        </p:nvGrpSpPr>
        <p:grpSpPr>
          <a:xfrm>
            <a:off x="5357956" y="7216232"/>
            <a:ext cx="1068900" cy="262532"/>
            <a:chOff x="0" y="0"/>
            <a:chExt cx="185707" cy="65033"/>
          </a:xfrm>
        </p:grpSpPr>
        <p:sp>
          <p:nvSpPr>
            <p:cNvPr id="23" name="Freeform 50">
              <a:extLst>
                <a:ext uri="{FF2B5EF4-FFF2-40B4-BE49-F238E27FC236}">
                  <a16:creationId xmlns:a16="http://schemas.microsoft.com/office/drawing/2014/main" id="{2D765BDD-21E2-0177-E464-2DCE8E791523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4" name="TextBox 51">
              <a:extLst>
                <a:ext uri="{FF2B5EF4-FFF2-40B4-BE49-F238E27FC236}">
                  <a16:creationId xmlns:a16="http://schemas.microsoft.com/office/drawing/2014/main" id="{8A4DAD72-C267-F872-8699-30C600E97988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5" name="TextBox 52">
            <a:extLst>
              <a:ext uri="{FF2B5EF4-FFF2-40B4-BE49-F238E27FC236}">
                <a16:creationId xmlns:a16="http://schemas.microsoft.com/office/drawing/2014/main" id="{7B561417-9978-964D-B4FA-0BD28A1B9F15}"/>
              </a:ext>
            </a:extLst>
          </p:cNvPr>
          <p:cNvSpPr txBox="1"/>
          <p:nvPr/>
        </p:nvSpPr>
        <p:spPr>
          <a:xfrm>
            <a:off x="5464992" y="7256937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4B5792-ED05-A326-3A3A-0D06B24798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29398" y="5953969"/>
            <a:ext cx="2532189" cy="4501669"/>
          </a:xfrm>
          <a:prstGeom prst="rect">
            <a:avLst/>
          </a:prstGeom>
        </p:spPr>
      </p:pic>
      <p:sp>
        <p:nvSpPr>
          <p:cNvPr id="2" name="TextBox 42">
            <a:extLst>
              <a:ext uri="{FF2B5EF4-FFF2-40B4-BE49-F238E27FC236}">
                <a16:creationId xmlns:a16="http://schemas.microsoft.com/office/drawing/2014/main" id="{517677BF-946E-B7EC-F068-B7E0803A8079}"/>
              </a:ext>
            </a:extLst>
          </p:cNvPr>
          <p:cNvSpPr txBox="1"/>
          <p:nvPr/>
        </p:nvSpPr>
        <p:spPr>
          <a:xfrm>
            <a:off x="573947" y="10239978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11" name="TextBox 43">
            <a:extLst>
              <a:ext uri="{FF2B5EF4-FFF2-40B4-BE49-F238E27FC236}">
                <a16:creationId xmlns:a16="http://schemas.microsoft.com/office/drawing/2014/main" id="{2BD2D96D-6510-AD3E-2A96-4DA2CDE0D20D}"/>
              </a:ext>
            </a:extLst>
          </p:cNvPr>
          <p:cNvSpPr txBox="1"/>
          <p:nvPr/>
        </p:nvSpPr>
        <p:spPr>
          <a:xfrm>
            <a:off x="573947" y="10048052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16" name="AutoShape 44">
            <a:extLst>
              <a:ext uri="{FF2B5EF4-FFF2-40B4-BE49-F238E27FC236}">
                <a16:creationId xmlns:a16="http://schemas.microsoft.com/office/drawing/2014/main" id="{B687FA06-47A5-3A7A-337E-BD27B6D9428A}"/>
              </a:ext>
            </a:extLst>
          </p:cNvPr>
          <p:cNvSpPr/>
          <p:nvPr/>
        </p:nvSpPr>
        <p:spPr>
          <a:xfrm>
            <a:off x="2585467" y="10365390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799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94">
            <a:extLst>
              <a:ext uri="{FF2B5EF4-FFF2-40B4-BE49-F238E27FC236}">
                <a16:creationId xmlns:a16="http://schemas.microsoft.com/office/drawing/2014/main" id="{F0F0FBB8-FB15-187D-0ED4-2CBC8CC4F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" y="2527300"/>
            <a:ext cx="3428999" cy="16278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2" name="TextBox 22">
            <a:extLst>
              <a:ext uri="{FF2B5EF4-FFF2-40B4-BE49-F238E27FC236}">
                <a16:creationId xmlns:a16="http://schemas.microsoft.com/office/drawing/2014/main" id="{03A22EC4-D8EB-17BE-BC7D-DF0E6D47A909}"/>
              </a:ext>
            </a:extLst>
          </p:cNvPr>
          <p:cNvSpPr txBox="1"/>
          <p:nvPr/>
        </p:nvSpPr>
        <p:spPr>
          <a:xfrm>
            <a:off x="5231417" y="2260524"/>
            <a:ext cx="1726753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Traveler-9727</a:t>
            </a:r>
          </a:p>
        </p:txBody>
      </p:sp>
      <p:sp>
        <p:nvSpPr>
          <p:cNvPr id="103" name="TextBox 34">
            <a:extLst>
              <a:ext uri="{FF2B5EF4-FFF2-40B4-BE49-F238E27FC236}">
                <a16:creationId xmlns:a16="http://schemas.microsoft.com/office/drawing/2014/main" id="{661ACC98-30D9-FF03-07C0-56DFFCD9695F}"/>
              </a:ext>
            </a:extLst>
          </p:cNvPr>
          <p:cNvSpPr txBox="1"/>
          <p:nvPr/>
        </p:nvSpPr>
        <p:spPr>
          <a:xfrm>
            <a:off x="5231417" y="2827621"/>
            <a:ext cx="1726753" cy="1827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G2iM/M730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  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100 x 50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   TID Memory: 96-bit / 48-b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Windshield 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Printing : Multi </a:t>
            </a:r>
            <a:r>
              <a:rPr lang="en-US" sz="1000" dirty="0" err="1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colour</a:t>
            </a: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Encoding : Yes 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104" name="Group 49">
            <a:extLst>
              <a:ext uri="{FF2B5EF4-FFF2-40B4-BE49-F238E27FC236}">
                <a16:creationId xmlns:a16="http://schemas.microsoft.com/office/drawing/2014/main" id="{EC3C189B-0C7E-B0FF-85A4-307CCC901FCE}"/>
              </a:ext>
            </a:extLst>
          </p:cNvPr>
          <p:cNvGrpSpPr/>
          <p:nvPr/>
        </p:nvGrpSpPr>
        <p:grpSpPr>
          <a:xfrm>
            <a:off x="5373289" y="2527301"/>
            <a:ext cx="1172589" cy="262532"/>
            <a:chOff x="0" y="0"/>
            <a:chExt cx="185707" cy="65033"/>
          </a:xfrm>
        </p:grpSpPr>
        <p:sp>
          <p:nvSpPr>
            <p:cNvPr id="105" name="Freeform 50">
              <a:extLst>
                <a:ext uri="{FF2B5EF4-FFF2-40B4-BE49-F238E27FC236}">
                  <a16:creationId xmlns:a16="http://schemas.microsoft.com/office/drawing/2014/main" id="{DF56DF0D-FE9F-C861-DDBB-5AF0155D7F5C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6" name="TextBox 51">
              <a:extLst>
                <a:ext uri="{FF2B5EF4-FFF2-40B4-BE49-F238E27FC236}">
                  <a16:creationId xmlns:a16="http://schemas.microsoft.com/office/drawing/2014/main" id="{FF0B5BDD-5990-E04B-E6BC-12C4E96828CF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07" name="TextBox 52">
            <a:extLst>
              <a:ext uri="{FF2B5EF4-FFF2-40B4-BE49-F238E27FC236}">
                <a16:creationId xmlns:a16="http://schemas.microsoft.com/office/drawing/2014/main" id="{1368C6D4-8258-8ECF-B941-F295A77DDBAD}"/>
              </a:ext>
            </a:extLst>
          </p:cNvPr>
          <p:cNvSpPr txBox="1"/>
          <p:nvPr/>
        </p:nvSpPr>
        <p:spPr>
          <a:xfrm>
            <a:off x="5465329" y="2601110"/>
            <a:ext cx="988508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grpSp>
        <p:nvGrpSpPr>
          <p:cNvPr id="2" name="Group 45">
            <a:extLst>
              <a:ext uri="{FF2B5EF4-FFF2-40B4-BE49-F238E27FC236}">
                <a16:creationId xmlns:a16="http://schemas.microsoft.com/office/drawing/2014/main" id="{3A180E07-70CC-7972-C843-422F0995E77B}"/>
              </a:ext>
            </a:extLst>
          </p:cNvPr>
          <p:cNvGrpSpPr/>
          <p:nvPr/>
        </p:nvGrpSpPr>
        <p:grpSpPr>
          <a:xfrm>
            <a:off x="344658" y="247581"/>
            <a:ext cx="7014992" cy="731771"/>
            <a:chOff x="0" y="0"/>
            <a:chExt cx="1128171" cy="174195"/>
          </a:xfrm>
        </p:grpSpPr>
        <p:sp>
          <p:nvSpPr>
            <p:cNvPr id="3" name="Freeform 46">
              <a:extLst>
                <a:ext uri="{FF2B5EF4-FFF2-40B4-BE49-F238E27FC236}">
                  <a16:creationId xmlns:a16="http://schemas.microsoft.com/office/drawing/2014/main" id="{F440EB20-D6B4-711B-4C7E-68C50F556A61}"/>
                </a:ext>
              </a:extLst>
            </p:cNvPr>
            <p:cNvSpPr/>
            <p:nvPr/>
          </p:nvSpPr>
          <p:spPr>
            <a:xfrm>
              <a:off x="0" y="0"/>
              <a:ext cx="1128171" cy="174195"/>
            </a:xfrm>
            <a:custGeom>
              <a:avLst/>
              <a:gdLst/>
              <a:ahLst/>
              <a:cxnLst/>
              <a:rect l="l" t="t" r="r" b="b"/>
              <a:pathLst>
                <a:path w="1128171" h="174195">
                  <a:moveTo>
                    <a:pt x="87098" y="0"/>
                  </a:moveTo>
                  <a:lnTo>
                    <a:pt x="1041073" y="0"/>
                  </a:lnTo>
                  <a:cubicBezTo>
                    <a:pt x="1089176" y="0"/>
                    <a:pt x="1128171" y="38995"/>
                    <a:pt x="1128171" y="87098"/>
                  </a:cubicBezTo>
                  <a:lnTo>
                    <a:pt x="1128171" y="87098"/>
                  </a:lnTo>
                  <a:cubicBezTo>
                    <a:pt x="1128171" y="135200"/>
                    <a:pt x="1089176" y="174195"/>
                    <a:pt x="1041073" y="174195"/>
                  </a:cubicBezTo>
                  <a:lnTo>
                    <a:pt x="87098" y="174195"/>
                  </a:lnTo>
                  <a:cubicBezTo>
                    <a:pt x="38995" y="174195"/>
                    <a:pt x="0" y="135200"/>
                    <a:pt x="0" y="87098"/>
                  </a:cubicBezTo>
                  <a:lnTo>
                    <a:pt x="0" y="87098"/>
                  </a:lnTo>
                  <a:cubicBezTo>
                    <a:pt x="0" y="38995"/>
                    <a:pt x="38995" y="0"/>
                    <a:pt x="8709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7">
              <a:extLst>
                <a:ext uri="{FF2B5EF4-FFF2-40B4-BE49-F238E27FC236}">
                  <a16:creationId xmlns:a16="http://schemas.microsoft.com/office/drawing/2014/main" id="{312FEE22-4EFC-B85E-D293-0EAE7A4C8432}"/>
                </a:ext>
              </a:extLst>
            </p:cNvPr>
            <p:cNvSpPr txBox="1"/>
            <p:nvPr/>
          </p:nvSpPr>
          <p:spPr>
            <a:xfrm>
              <a:off x="0" y="-57150"/>
              <a:ext cx="1128171" cy="23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48">
            <a:extLst>
              <a:ext uri="{FF2B5EF4-FFF2-40B4-BE49-F238E27FC236}">
                <a16:creationId xmlns:a16="http://schemas.microsoft.com/office/drawing/2014/main" id="{0D7C5572-2438-9CB9-6251-82CC38ECD775}"/>
              </a:ext>
            </a:extLst>
          </p:cNvPr>
          <p:cNvSpPr txBox="1"/>
          <p:nvPr/>
        </p:nvSpPr>
        <p:spPr>
          <a:xfrm>
            <a:off x="172329" y="422955"/>
            <a:ext cx="7359650" cy="28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1400" b="1" spc="553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RFID inlays/labels for Windshield applications</a:t>
            </a: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09600276-7CC3-80D0-1223-6258E86EA2E8}"/>
              </a:ext>
            </a:extLst>
          </p:cNvPr>
          <p:cNvSpPr txBox="1"/>
          <p:nvPr/>
        </p:nvSpPr>
        <p:spPr>
          <a:xfrm>
            <a:off x="5149851" y="6298460"/>
            <a:ext cx="1900360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Traveler-10025</a:t>
            </a: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09D8925B-00C4-8117-32B1-B7DF365007CC}"/>
              </a:ext>
            </a:extLst>
          </p:cNvPr>
          <p:cNvSpPr txBox="1"/>
          <p:nvPr/>
        </p:nvSpPr>
        <p:spPr>
          <a:xfrm>
            <a:off x="5323457" y="6865557"/>
            <a:ext cx="1726753" cy="1827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G2iM/M730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  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100 x 50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   TID Memory: 96-bit / 48-b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Windshield 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Printing : Multi </a:t>
            </a:r>
            <a:r>
              <a:rPr lang="en-US" sz="1000" dirty="0" err="1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colour</a:t>
            </a: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Encoding : Yes 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8" name="Group 49">
            <a:extLst>
              <a:ext uri="{FF2B5EF4-FFF2-40B4-BE49-F238E27FC236}">
                <a16:creationId xmlns:a16="http://schemas.microsoft.com/office/drawing/2014/main" id="{64377B6B-A67A-9298-2B38-13E714AB21FB}"/>
              </a:ext>
            </a:extLst>
          </p:cNvPr>
          <p:cNvGrpSpPr/>
          <p:nvPr/>
        </p:nvGrpSpPr>
        <p:grpSpPr>
          <a:xfrm>
            <a:off x="5465329" y="6565237"/>
            <a:ext cx="1172589" cy="262532"/>
            <a:chOff x="0" y="0"/>
            <a:chExt cx="185707" cy="65033"/>
          </a:xfrm>
        </p:grpSpPr>
        <p:sp>
          <p:nvSpPr>
            <p:cNvPr id="9" name="Freeform 50">
              <a:extLst>
                <a:ext uri="{FF2B5EF4-FFF2-40B4-BE49-F238E27FC236}">
                  <a16:creationId xmlns:a16="http://schemas.microsoft.com/office/drawing/2014/main" id="{B498D5B0-DAC9-E017-AE8B-BA43354E2D7A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51">
              <a:extLst>
                <a:ext uri="{FF2B5EF4-FFF2-40B4-BE49-F238E27FC236}">
                  <a16:creationId xmlns:a16="http://schemas.microsoft.com/office/drawing/2014/main" id="{CACBFF69-A39E-0A05-FD2D-714C8279AA6D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52">
            <a:extLst>
              <a:ext uri="{FF2B5EF4-FFF2-40B4-BE49-F238E27FC236}">
                <a16:creationId xmlns:a16="http://schemas.microsoft.com/office/drawing/2014/main" id="{320FC1E9-C1ED-A6C9-0E14-B2F55EF4B781}"/>
              </a:ext>
            </a:extLst>
          </p:cNvPr>
          <p:cNvSpPr txBox="1"/>
          <p:nvPr/>
        </p:nvSpPr>
        <p:spPr>
          <a:xfrm>
            <a:off x="5557369" y="6639046"/>
            <a:ext cx="988508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DCA849-D12E-E6EC-8C35-0BDD924E0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15" y="6495171"/>
            <a:ext cx="3937267" cy="1987382"/>
          </a:xfrm>
          <a:prstGeom prst="rect">
            <a:avLst/>
          </a:prstGeom>
        </p:spPr>
      </p:pic>
      <p:sp>
        <p:nvSpPr>
          <p:cNvPr id="12" name="TextBox 42">
            <a:extLst>
              <a:ext uri="{FF2B5EF4-FFF2-40B4-BE49-F238E27FC236}">
                <a16:creationId xmlns:a16="http://schemas.microsoft.com/office/drawing/2014/main" id="{412D7B26-2AD2-AF54-01FB-996BB9C6F593}"/>
              </a:ext>
            </a:extLst>
          </p:cNvPr>
          <p:cNvSpPr txBox="1"/>
          <p:nvPr/>
        </p:nvSpPr>
        <p:spPr>
          <a:xfrm>
            <a:off x="404608" y="10292901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14" name="TextBox 43">
            <a:extLst>
              <a:ext uri="{FF2B5EF4-FFF2-40B4-BE49-F238E27FC236}">
                <a16:creationId xmlns:a16="http://schemas.microsoft.com/office/drawing/2014/main" id="{6516D47B-F1B7-194D-E6DC-8144E1AC6783}"/>
              </a:ext>
            </a:extLst>
          </p:cNvPr>
          <p:cNvSpPr txBox="1"/>
          <p:nvPr/>
        </p:nvSpPr>
        <p:spPr>
          <a:xfrm>
            <a:off x="404608" y="10100975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15" name="AutoShape 44">
            <a:extLst>
              <a:ext uri="{FF2B5EF4-FFF2-40B4-BE49-F238E27FC236}">
                <a16:creationId xmlns:a16="http://schemas.microsoft.com/office/drawing/2014/main" id="{F4FF395C-A9DE-8725-43F5-AECD11B44C07}"/>
              </a:ext>
            </a:extLst>
          </p:cNvPr>
          <p:cNvSpPr/>
          <p:nvPr/>
        </p:nvSpPr>
        <p:spPr>
          <a:xfrm>
            <a:off x="2416128" y="10418313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60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5">
            <a:extLst>
              <a:ext uri="{FF2B5EF4-FFF2-40B4-BE49-F238E27FC236}">
                <a16:creationId xmlns:a16="http://schemas.microsoft.com/office/drawing/2014/main" id="{BF5BFD8C-521A-289A-D867-48821629F552}"/>
              </a:ext>
            </a:extLst>
          </p:cNvPr>
          <p:cNvGrpSpPr/>
          <p:nvPr/>
        </p:nvGrpSpPr>
        <p:grpSpPr>
          <a:xfrm>
            <a:off x="344658" y="247581"/>
            <a:ext cx="7014992" cy="731771"/>
            <a:chOff x="0" y="0"/>
            <a:chExt cx="1128171" cy="174195"/>
          </a:xfrm>
        </p:grpSpPr>
        <p:sp>
          <p:nvSpPr>
            <p:cNvPr id="3" name="Freeform 46">
              <a:extLst>
                <a:ext uri="{FF2B5EF4-FFF2-40B4-BE49-F238E27FC236}">
                  <a16:creationId xmlns:a16="http://schemas.microsoft.com/office/drawing/2014/main" id="{5771BD5C-D46D-5770-F6CC-3A70C2C0E1CB}"/>
                </a:ext>
              </a:extLst>
            </p:cNvPr>
            <p:cNvSpPr/>
            <p:nvPr/>
          </p:nvSpPr>
          <p:spPr>
            <a:xfrm>
              <a:off x="0" y="0"/>
              <a:ext cx="1128171" cy="174195"/>
            </a:xfrm>
            <a:custGeom>
              <a:avLst/>
              <a:gdLst/>
              <a:ahLst/>
              <a:cxnLst/>
              <a:rect l="l" t="t" r="r" b="b"/>
              <a:pathLst>
                <a:path w="1128171" h="174195">
                  <a:moveTo>
                    <a:pt x="87098" y="0"/>
                  </a:moveTo>
                  <a:lnTo>
                    <a:pt x="1041073" y="0"/>
                  </a:lnTo>
                  <a:cubicBezTo>
                    <a:pt x="1089176" y="0"/>
                    <a:pt x="1128171" y="38995"/>
                    <a:pt x="1128171" y="87098"/>
                  </a:cubicBezTo>
                  <a:lnTo>
                    <a:pt x="1128171" y="87098"/>
                  </a:lnTo>
                  <a:cubicBezTo>
                    <a:pt x="1128171" y="135200"/>
                    <a:pt x="1089176" y="174195"/>
                    <a:pt x="1041073" y="174195"/>
                  </a:cubicBezTo>
                  <a:lnTo>
                    <a:pt x="87098" y="174195"/>
                  </a:lnTo>
                  <a:cubicBezTo>
                    <a:pt x="38995" y="174195"/>
                    <a:pt x="0" y="135200"/>
                    <a:pt x="0" y="87098"/>
                  </a:cubicBezTo>
                  <a:lnTo>
                    <a:pt x="0" y="87098"/>
                  </a:lnTo>
                  <a:cubicBezTo>
                    <a:pt x="0" y="38995"/>
                    <a:pt x="38995" y="0"/>
                    <a:pt x="8709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7">
              <a:extLst>
                <a:ext uri="{FF2B5EF4-FFF2-40B4-BE49-F238E27FC236}">
                  <a16:creationId xmlns:a16="http://schemas.microsoft.com/office/drawing/2014/main" id="{1C891C96-544F-EFE4-2347-6B57FBFE29F4}"/>
                </a:ext>
              </a:extLst>
            </p:cNvPr>
            <p:cNvSpPr txBox="1"/>
            <p:nvPr/>
          </p:nvSpPr>
          <p:spPr>
            <a:xfrm>
              <a:off x="0" y="-57150"/>
              <a:ext cx="1128171" cy="23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48">
            <a:extLst>
              <a:ext uri="{FF2B5EF4-FFF2-40B4-BE49-F238E27FC236}">
                <a16:creationId xmlns:a16="http://schemas.microsoft.com/office/drawing/2014/main" id="{6D315F8A-E33F-8C90-4431-31835855D19B}"/>
              </a:ext>
            </a:extLst>
          </p:cNvPr>
          <p:cNvSpPr txBox="1"/>
          <p:nvPr/>
        </p:nvSpPr>
        <p:spPr>
          <a:xfrm>
            <a:off x="172329" y="422955"/>
            <a:ext cx="7359650" cy="28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1400" b="1" spc="553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UHF RFID </a:t>
            </a:r>
            <a:r>
              <a:rPr lang="en-US" sz="1400" b="1" spc="553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Jewellery</a:t>
            </a:r>
            <a:r>
              <a:rPr lang="en-US" sz="1400" b="1" spc="553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 &amp; Laundry tags</a:t>
            </a: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DE23E135-A672-99C2-9FC8-30B116FA004F}"/>
              </a:ext>
            </a:extLst>
          </p:cNvPr>
          <p:cNvSpPr txBox="1"/>
          <p:nvPr/>
        </p:nvSpPr>
        <p:spPr>
          <a:xfrm>
            <a:off x="5117013" y="1548773"/>
            <a:ext cx="1813188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Regalia-5030</a:t>
            </a: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177AEBF9-FF00-2AC1-DAC0-C2C001BF58F3}"/>
              </a:ext>
            </a:extLst>
          </p:cNvPr>
          <p:cNvSpPr txBox="1"/>
          <p:nvPr/>
        </p:nvSpPr>
        <p:spPr>
          <a:xfrm>
            <a:off x="5236577" y="2141820"/>
            <a:ext cx="1574061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Impinj M730/M830/U9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  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60 x 18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   TID Memory: 96-bit / 48-b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8" name="Group 49">
            <a:extLst>
              <a:ext uri="{FF2B5EF4-FFF2-40B4-BE49-F238E27FC236}">
                <a16:creationId xmlns:a16="http://schemas.microsoft.com/office/drawing/2014/main" id="{8CC29BC9-3918-558E-C887-E70BC0A76701}"/>
              </a:ext>
            </a:extLst>
          </p:cNvPr>
          <p:cNvGrpSpPr/>
          <p:nvPr/>
        </p:nvGrpSpPr>
        <p:grpSpPr>
          <a:xfrm>
            <a:off x="5378450" y="1841500"/>
            <a:ext cx="1068900" cy="209032"/>
            <a:chOff x="0" y="0"/>
            <a:chExt cx="185707" cy="65033"/>
          </a:xfrm>
        </p:grpSpPr>
        <p:sp>
          <p:nvSpPr>
            <p:cNvPr id="9" name="Freeform 50">
              <a:extLst>
                <a:ext uri="{FF2B5EF4-FFF2-40B4-BE49-F238E27FC236}">
                  <a16:creationId xmlns:a16="http://schemas.microsoft.com/office/drawing/2014/main" id="{7A1FC01A-3FE0-766D-B073-C9C75D442BFE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51">
              <a:extLst>
                <a:ext uri="{FF2B5EF4-FFF2-40B4-BE49-F238E27FC236}">
                  <a16:creationId xmlns:a16="http://schemas.microsoft.com/office/drawing/2014/main" id="{7940B95B-DB0A-8832-26DC-D1D9BCA8EE77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52">
            <a:extLst>
              <a:ext uri="{FF2B5EF4-FFF2-40B4-BE49-F238E27FC236}">
                <a16:creationId xmlns:a16="http://schemas.microsoft.com/office/drawing/2014/main" id="{64DFEABA-0E9E-B1DA-93CB-04515AB57215}"/>
              </a:ext>
            </a:extLst>
          </p:cNvPr>
          <p:cNvSpPr txBox="1"/>
          <p:nvPr/>
        </p:nvSpPr>
        <p:spPr>
          <a:xfrm>
            <a:off x="5485486" y="1882205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54BE3A-D064-3353-3031-35B1353E8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06" y="1548773"/>
            <a:ext cx="3713407" cy="23314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D29215-318F-5A98-3AD1-F25755139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52" y="4203700"/>
            <a:ext cx="2832308" cy="2832308"/>
          </a:xfrm>
          <a:prstGeom prst="rect">
            <a:avLst/>
          </a:prstGeom>
        </p:spPr>
      </p:pic>
      <p:sp>
        <p:nvSpPr>
          <p:cNvPr id="16" name="TextBox 22">
            <a:extLst>
              <a:ext uri="{FF2B5EF4-FFF2-40B4-BE49-F238E27FC236}">
                <a16:creationId xmlns:a16="http://schemas.microsoft.com/office/drawing/2014/main" id="{EA6E80E3-81FA-557B-887A-73D1EE1415A0}"/>
              </a:ext>
            </a:extLst>
          </p:cNvPr>
          <p:cNvSpPr txBox="1"/>
          <p:nvPr/>
        </p:nvSpPr>
        <p:spPr>
          <a:xfrm>
            <a:off x="5188128" y="4849458"/>
            <a:ext cx="1742073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Regalia-4515</a:t>
            </a:r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17322679-A7DF-64DF-6BA9-7932F2599AC4}"/>
              </a:ext>
            </a:extLst>
          </p:cNvPr>
          <p:cNvSpPr txBox="1"/>
          <p:nvPr/>
        </p:nvSpPr>
        <p:spPr>
          <a:xfrm>
            <a:off x="5236577" y="5542504"/>
            <a:ext cx="1574061" cy="1160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Impinj M730/M830/U9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  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45 x 15 mm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   TID Memory: 96-bit / 48-b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18" name="Group 49">
            <a:extLst>
              <a:ext uri="{FF2B5EF4-FFF2-40B4-BE49-F238E27FC236}">
                <a16:creationId xmlns:a16="http://schemas.microsoft.com/office/drawing/2014/main" id="{E6EEE93E-2B1D-44EA-E0C7-31B81CE537E0}"/>
              </a:ext>
            </a:extLst>
          </p:cNvPr>
          <p:cNvGrpSpPr/>
          <p:nvPr/>
        </p:nvGrpSpPr>
        <p:grpSpPr>
          <a:xfrm>
            <a:off x="5489157" y="5207483"/>
            <a:ext cx="1068900" cy="209032"/>
            <a:chOff x="0" y="0"/>
            <a:chExt cx="185707" cy="65033"/>
          </a:xfrm>
        </p:grpSpPr>
        <p:sp>
          <p:nvSpPr>
            <p:cNvPr id="19" name="Freeform 50">
              <a:extLst>
                <a:ext uri="{FF2B5EF4-FFF2-40B4-BE49-F238E27FC236}">
                  <a16:creationId xmlns:a16="http://schemas.microsoft.com/office/drawing/2014/main" id="{CEC8E18E-6441-7C73-97D5-DF901F29486D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0" name="TextBox 51">
              <a:extLst>
                <a:ext uri="{FF2B5EF4-FFF2-40B4-BE49-F238E27FC236}">
                  <a16:creationId xmlns:a16="http://schemas.microsoft.com/office/drawing/2014/main" id="{8A3AB978-B27C-6349-AB8A-6514BBA2D6F5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1" name="TextBox 52">
            <a:extLst>
              <a:ext uri="{FF2B5EF4-FFF2-40B4-BE49-F238E27FC236}">
                <a16:creationId xmlns:a16="http://schemas.microsoft.com/office/drawing/2014/main" id="{594C1C4F-37F6-0479-9633-744F13966C16}"/>
              </a:ext>
            </a:extLst>
          </p:cNvPr>
          <p:cNvSpPr txBox="1"/>
          <p:nvPr/>
        </p:nvSpPr>
        <p:spPr>
          <a:xfrm>
            <a:off x="5573058" y="5245186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D5A0F3D-72E6-A6D5-D038-FA152020C5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46" y="7250942"/>
            <a:ext cx="2995760" cy="2995760"/>
          </a:xfrm>
          <a:prstGeom prst="rect">
            <a:avLst/>
          </a:prstGeom>
        </p:spPr>
      </p:pic>
      <p:sp>
        <p:nvSpPr>
          <p:cNvPr id="24" name="TextBox 22">
            <a:extLst>
              <a:ext uri="{FF2B5EF4-FFF2-40B4-BE49-F238E27FC236}">
                <a16:creationId xmlns:a16="http://schemas.microsoft.com/office/drawing/2014/main" id="{2CFB4BA4-A4B4-57C1-7104-E02EA41DC4F6}"/>
              </a:ext>
            </a:extLst>
          </p:cNvPr>
          <p:cNvSpPr txBox="1"/>
          <p:nvPr/>
        </p:nvSpPr>
        <p:spPr>
          <a:xfrm>
            <a:off x="5236577" y="7785100"/>
            <a:ext cx="1574061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Rinse-7015</a:t>
            </a:r>
          </a:p>
        </p:txBody>
      </p:sp>
      <p:sp>
        <p:nvSpPr>
          <p:cNvPr id="25" name="TextBox 34">
            <a:extLst>
              <a:ext uri="{FF2B5EF4-FFF2-40B4-BE49-F238E27FC236}">
                <a16:creationId xmlns:a16="http://schemas.microsoft.com/office/drawing/2014/main" id="{A77BF257-A02F-ECD1-5A2E-5B9FE9B3E267}"/>
              </a:ext>
            </a:extLst>
          </p:cNvPr>
          <p:cNvSpPr txBox="1"/>
          <p:nvPr/>
        </p:nvSpPr>
        <p:spPr>
          <a:xfrm>
            <a:off x="5236577" y="8352197"/>
            <a:ext cx="1574061" cy="1494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Impinj M730/M830/U9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   (860-960)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70 x 15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EPC Memory: 128 bits        TID Memory: 96-bit / 48-b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Fixing </a:t>
            </a:r>
            <a:r>
              <a:rPr lang="fr-FR" sz="1000" dirty="0" err="1">
                <a:latin typeface="Aptos" panose="020B0004020202020204" pitchFamily="34" charset="0"/>
              </a:rPr>
              <a:t>Mechanism</a:t>
            </a:r>
            <a:r>
              <a:rPr lang="fr-FR" sz="1000" dirty="0">
                <a:latin typeface="Aptos" panose="020B0004020202020204" pitchFamily="34" charset="0"/>
              </a:rPr>
              <a:t>: </a:t>
            </a:r>
            <a:r>
              <a:rPr lang="fr-FR" sz="1000" dirty="0" err="1">
                <a:latin typeface="Aptos" panose="020B0004020202020204" pitchFamily="34" charset="0"/>
              </a:rPr>
              <a:t>Stitch</a:t>
            </a:r>
            <a:r>
              <a:rPr lang="fr-FR" sz="1000" dirty="0">
                <a:latin typeface="Aptos" panose="020B0004020202020204" pitchFamily="34" charset="0"/>
              </a:rPr>
              <a:t>/Heat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26" name="Group 49">
            <a:extLst>
              <a:ext uri="{FF2B5EF4-FFF2-40B4-BE49-F238E27FC236}">
                <a16:creationId xmlns:a16="http://schemas.microsoft.com/office/drawing/2014/main" id="{D7770074-EAC4-3206-DBF3-C90D44A54ADC}"/>
              </a:ext>
            </a:extLst>
          </p:cNvPr>
          <p:cNvGrpSpPr/>
          <p:nvPr/>
        </p:nvGrpSpPr>
        <p:grpSpPr>
          <a:xfrm>
            <a:off x="5378450" y="8051877"/>
            <a:ext cx="1068900" cy="209032"/>
            <a:chOff x="0" y="0"/>
            <a:chExt cx="185707" cy="65033"/>
          </a:xfrm>
        </p:grpSpPr>
        <p:sp>
          <p:nvSpPr>
            <p:cNvPr id="27" name="Freeform 50">
              <a:extLst>
                <a:ext uri="{FF2B5EF4-FFF2-40B4-BE49-F238E27FC236}">
                  <a16:creationId xmlns:a16="http://schemas.microsoft.com/office/drawing/2014/main" id="{B276B29F-0D30-2A77-5CF1-CB1993D3ECF6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8" name="TextBox 51">
              <a:extLst>
                <a:ext uri="{FF2B5EF4-FFF2-40B4-BE49-F238E27FC236}">
                  <a16:creationId xmlns:a16="http://schemas.microsoft.com/office/drawing/2014/main" id="{B7F7E690-6593-FE64-57CC-3540193A6551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9" name="TextBox 52">
            <a:extLst>
              <a:ext uri="{FF2B5EF4-FFF2-40B4-BE49-F238E27FC236}">
                <a16:creationId xmlns:a16="http://schemas.microsoft.com/office/drawing/2014/main" id="{E9658E1B-4604-E1C7-A393-9F2C751BB83F}"/>
              </a:ext>
            </a:extLst>
          </p:cNvPr>
          <p:cNvSpPr txBox="1"/>
          <p:nvPr/>
        </p:nvSpPr>
        <p:spPr>
          <a:xfrm>
            <a:off x="5485486" y="8092582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12" name="TextBox 42">
            <a:extLst>
              <a:ext uri="{FF2B5EF4-FFF2-40B4-BE49-F238E27FC236}">
                <a16:creationId xmlns:a16="http://schemas.microsoft.com/office/drawing/2014/main" id="{E2C567DE-F98E-D48E-7CC7-D6BBE3FEDF3E}"/>
              </a:ext>
            </a:extLst>
          </p:cNvPr>
          <p:cNvSpPr txBox="1"/>
          <p:nvPr/>
        </p:nvSpPr>
        <p:spPr>
          <a:xfrm>
            <a:off x="542340" y="10275281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14" name="TextBox 43">
            <a:extLst>
              <a:ext uri="{FF2B5EF4-FFF2-40B4-BE49-F238E27FC236}">
                <a16:creationId xmlns:a16="http://schemas.microsoft.com/office/drawing/2014/main" id="{96493E55-46EF-CB76-DED8-ACEBF05C8696}"/>
              </a:ext>
            </a:extLst>
          </p:cNvPr>
          <p:cNvSpPr txBox="1"/>
          <p:nvPr/>
        </p:nvSpPr>
        <p:spPr>
          <a:xfrm>
            <a:off x="542340" y="10083355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22" name="AutoShape 44">
            <a:extLst>
              <a:ext uri="{FF2B5EF4-FFF2-40B4-BE49-F238E27FC236}">
                <a16:creationId xmlns:a16="http://schemas.microsoft.com/office/drawing/2014/main" id="{DE5D2AAD-3369-9654-5DAE-C1D0A9DDDDD0}"/>
              </a:ext>
            </a:extLst>
          </p:cNvPr>
          <p:cNvSpPr/>
          <p:nvPr/>
        </p:nvSpPr>
        <p:spPr>
          <a:xfrm>
            <a:off x="2553860" y="10400693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404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5">
            <a:extLst>
              <a:ext uri="{FF2B5EF4-FFF2-40B4-BE49-F238E27FC236}">
                <a16:creationId xmlns:a16="http://schemas.microsoft.com/office/drawing/2014/main" id="{0480DA9C-FF62-150E-9130-EBE3A679FA30}"/>
              </a:ext>
            </a:extLst>
          </p:cNvPr>
          <p:cNvGrpSpPr/>
          <p:nvPr/>
        </p:nvGrpSpPr>
        <p:grpSpPr>
          <a:xfrm>
            <a:off x="344658" y="247581"/>
            <a:ext cx="7014992" cy="731771"/>
            <a:chOff x="0" y="0"/>
            <a:chExt cx="1128171" cy="174195"/>
          </a:xfrm>
        </p:grpSpPr>
        <p:sp>
          <p:nvSpPr>
            <p:cNvPr id="3" name="Freeform 46">
              <a:extLst>
                <a:ext uri="{FF2B5EF4-FFF2-40B4-BE49-F238E27FC236}">
                  <a16:creationId xmlns:a16="http://schemas.microsoft.com/office/drawing/2014/main" id="{CD380F13-D36A-278F-4380-6B8FD3CB6AB0}"/>
                </a:ext>
              </a:extLst>
            </p:cNvPr>
            <p:cNvSpPr/>
            <p:nvPr/>
          </p:nvSpPr>
          <p:spPr>
            <a:xfrm>
              <a:off x="0" y="0"/>
              <a:ext cx="1128171" cy="174195"/>
            </a:xfrm>
            <a:custGeom>
              <a:avLst/>
              <a:gdLst/>
              <a:ahLst/>
              <a:cxnLst/>
              <a:rect l="l" t="t" r="r" b="b"/>
              <a:pathLst>
                <a:path w="1128171" h="174195">
                  <a:moveTo>
                    <a:pt x="87098" y="0"/>
                  </a:moveTo>
                  <a:lnTo>
                    <a:pt x="1041073" y="0"/>
                  </a:lnTo>
                  <a:cubicBezTo>
                    <a:pt x="1089176" y="0"/>
                    <a:pt x="1128171" y="38995"/>
                    <a:pt x="1128171" y="87098"/>
                  </a:cubicBezTo>
                  <a:lnTo>
                    <a:pt x="1128171" y="87098"/>
                  </a:lnTo>
                  <a:cubicBezTo>
                    <a:pt x="1128171" y="135200"/>
                    <a:pt x="1089176" y="174195"/>
                    <a:pt x="1041073" y="174195"/>
                  </a:cubicBezTo>
                  <a:lnTo>
                    <a:pt x="87098" y="174195"/>
                  </a:lnTo>
                  <a:cubicBezTo>
                    <a:pt x="38995" y="174195"/>
                    <a:pt x="0" y="135200"/>
                    <a:pt x="0" y="87098"/>
                  </a:cubicBezTo>
                  <a:lnTo>
                    <a:pt x="0" y="87098"/>
                  </a:lnTo>
                  <a:cubicBezTo>
                    <a:pt x="0" y="38995"/>
                    <a:pt x="38995" y="0"/>
                    <a:pt x="8709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7">
              <a:extLst>
                <a:ext uri="{FF2B5EF4-FFF2-40B4-BE49-F238E27FC236}">
                  <a16:creationId xmlns:a16="http://schemas.microsoft.com/office/drawing/2014/main" id="{E2CC3F45-B95D-3B5F-097E-93F85531ACCA}"/>
                </a:ext>
              </a:extLst>
            </p:cNvPr>
            <p:cNvSpPr txBox="1"/>
            <p:nvPr/>
          </p:nvSpPr>
          <p:spPr>
            <a:xfrm>
              <a:off x="0" y="-57150"/>
              <a:ext cx="1128171" cy="23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48">
            <a:extLst>
              <a:ext uri="{FF2B5EF4-FFF2-40B4-BE49-F238E27FC236}">
                <a16:creationId xmlns:a16="http://schemas.microsoft.com/office/drawing/2014/main" id="{F9A2EE27-A426-C4D0-F557-C02593585855}"/>
              </a:ext>
            </a:extLst>
          </p:cNvPr>
          <p:cNvSpPr txBox="1"/>
          <p:nvPr/>
        </p:nvSpPr>
        <p:spPr>
          <a:xfrm>
            <a:off x="172329" y="422955"/>
            <a:ext cx="7359650" cy="28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1400" b="1" spc="553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RFID NFC/HF Tags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B5DB22-7DD3-305B-77C0-C24AB3A0E2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50" y="1507527"/>
            <a:ext cx="2534246" cy="25342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4B255C-9ECA-5FC2-8AEF-29C300C65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06" y="4432300"/>
            <a:ext cx="2824533" cy="2638708"/>
          </a:xfrm>
          <a:prstGeom prst="rect">
            <a:avLst/>
          </a:prstGeom>
        </p:spPr>
      </p:pic>
      <p:sp>
        <p:nvSpPr>
          <p:cNvPr id="10" name="TextBox 22">
            <a:extLst>
              <a:ext uri="{FF2B5EF4-FFF2-40B4-BE49-F238E27FC236}">
                <a16:creationId xmlns:a16="http://schemas.microsoft.com/office/drawing/2014/main" id="{E331F0EB-8C0B-5C69-6EF9-B2F0018AFC3A}"/>
              </a:ext>
            </a:extLst>
          </p:cNvPr>
          <p:cNvSpPr txBox="1"/>
          <p:nvPr/>
        </p:nvSpPr>
        <p:spPr>
          <a:xfrm>
            <a:off x="5280074" y="1838818"/>
            <a:ext cx="1574061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NFC-27mm</a:t>
            </a:r>
          </a:p>
        </p:txBody>
      </p:sp>
      <p:sp>
        <p:nvSpPr>
          <p:cNvPr id="11" name="TextBox 34">
            <a:extLst>
              <a:ext uri="{FF2B5EF4-FFF2-40B4-BE49-F238E27FC236}">
                <a16:creationId xmlns:a16="http://schemas.microsoft.com/office/drawing/2014/main" id="{1FBA4DB6-4274-67DA-3400-F48B019ADF52}"/>
              </a:ext>
            </a:extLst>
          </p:cNvPr>
          <p:cNvSpPr txBox="1"/>
          <p:nvPr/>
        </p:nvSpPr>
        <p:spPr>
          <a:xfrm>
            <a:off x="5280074" y="2405915"/>
            <a:ext cx="1574061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NTAG 213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HF/NFC 13.56Mhz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 </a:t>
            </a:r>
            <a:r>
              <a:rPr lang="fr-FR" sz="1000" dirty="0">
                <a:latin typeface="Aptos" panose="020B0004020202020204" pitchFamily="34" charset="0"/>
              </a:rPr>
              <a:t>Dimensions: 27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Form Factor : Inlays, Labels, Coins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12" name="Group 49">
            <a:extLst>
              <a:ext uri="{FF2B5EF4-FFF2-40B4-BE49-F238E27FC236}">
                <a16:creationId xmlns:a16="http://schemas.microsoft.com/office/drawing/2014/main" id="{8A995F0C-17FE-F94A-1E29-1D8192C273D9}"/>
              </a:ext>
            </a:extLst>
          </p:cNvPr>
          <p:cNvGrpSpPr/>
          <p:nvPr/>
        </p:nvGrpSpPr>
        <p:grpSpPr>
          <a:xfrm>
            <a:off x="5421947" y="2105595"/>
            <a:ext cx="1068900" cy="209032"/>
            <a:chOff x="0" y="0"/>
            <a:chExt cx="185707" cy="65033"/>
          </a:xfrm>
        </p:grpSpPr>
        <p:sp>
          <p:nvSpPr>
            <p:cNvPr id="13" name="Freeform 50">
              <a:extLst>
                <a:ext uri="{FF2B5EF4-FFF2-40B4-BE49-F238E27FC236}">
                  <a16:creationId xmlns:a16="http://schemas.microsoft.com/office/drawing/2014/main" id="{E232C51C-5AFD-41B6-D2FB-C561C82E0991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51">
              <a:extLst>
                <a:ext uri="{FF2B5EF4-FFF2-40B4-BE49-F238E27FC236}">
                  <a16:creationId xmlns:a16="http://schemas.microsoft.com/office/drawing/2014/main" id="{2034CE0C-8E81-3765-CD90-5CD4418A95E7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5" name="TextBox 52">
            <a:extLst>
              <a:ext uri="{FF2B5EF4-FFF2-40B4-BE49-F238E27FC236}">
                <a16:creationId xmlns:a16="http://schemas.microsoft.com/office/drawing/2014/main" id="{BAFAA34A-E018-67D6-8CF2-CDA360F2BEE2}"/>
              </a:ext>
            </a:extLst>
          </p:cNvPr>
          <p:cNvSpPr txBox="1"/>
          <p:nvPr/>
        </p:nvSpPr>
        <p:spPr>
          <a:xfrm>
            <a:off x="5528983" y="2146300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8731BE5F-A50E-405A-EAB9-60E7C4A8DF5F}"/>
              </a:ext>
            </a:extLst>
          </p:cNvPr>
          <p:cNvSpPr txBox="1"/>
          <p:nvPr/>
        </p:nvSpPr>
        <p:spPr>
          <a:xfrm>
            <a:off x="5398713" y="4611054"/>
            <a:ext cx="1574061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Cards-8550</a:t>
            </a:r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5B595F91-4DD4-EDA7-EFE3-64DACF5EF108}"/>
              </a:ext>
            </a:extLst>
          </p:cNvPr>
          <p:cNvSpPr txBox="1"/>
          <p:nvPr/>
        </p:nvSpPr>
        <p:spPr>
          <a:xfrm>
            <a:off x="5398713" y="5178151"/>
            <a:ext cx="1574061" cy="1160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NTAG 213/</a:t>
            </a:r>
            <a:r>
              <a:rPr lang="en-IN" sz="1000" dirty="0" err="1">
                <a:latin typeface="Aptos" panose="020B0004020202020204" pitchFamily="34" charset="0"/>
              </a:rPr>
              <a:t>Mifare</a:t>
            </a:r>
            <a:r>
              <a:rPr lang="en-IN" sz="1000" dirty="0">
                <a:latin typeface="Aptos" panose="020B0004020202020204" pitchFamily="34" charset="0"/>
              </a:rPr>
              <a:t> 1K/</a:t>
            </a:r>
            <a:r>
              <a:rPr lang="en-IN" sz="1000" dirty="0" err="1">
                <a:latin typeface="Aptos" panose="020B0004020202020204" pitchFamily="34" charset="0"/>
              </a:rPr>
              <a:t>Mifare</a:t>
            </a:r>
            <a:r>
              <a:rPr lang="en-IN" sz="1000" dirty="0">
                <a:latin typeface="Aptos" panose="020B0004020202020204" pitchFamily="34" charset="0"/>
              </a:rPr>
              <a:t> 4K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HF/NFC 13.56Mhz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Dimensions: 8550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Printing  : Yes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sp>
        <p:nvSpPr>
          <p:cNvPr id="23" name="TextBox 34">
            <a:extLst>
              <a:ext uri="{FF2B5EF4-FFF2-40B4-BE49-F238E27FC236}">
                <a16:creationId xmlns:a16="http://schemas.microsoft.com/office/drawing/2014/main" id="{00F24B23-D1B7-3D95-BC44-A7DB6D12E180}"/>
              </a:ext>
            </a:extLst>
          </p:cNvPr>
          <p:cNvSpPr txBox="1"/>
          <p:nvPr/>
        </p:nvSpPr>
        <p:spPr>
          <a:xfrm>
            <a:off x="5458959" y="8517485"/>
            <a:ext cx="1574061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NTAG 213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HF/NFC 13.56Mhz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 </a:t>
            </a:r>
            <a:r>
              <a:rPr lang="fr-FR" sz="1000" dirty="0">
                <a:latin typeface="Aptos" panose="020B0004020202020204" pitchFamily="34" charset="0"/>
              </a:rPr>
              <a:t>Dimensions: 27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Label Size : Customisable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Form Factor : Inlays, Labels, Coins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24" name="Group 49">
            <a:extLst>
              <a:ext uri="{FF2B5EF4-FFF2-40B4-BE49-F238E27FC236}">
                <a16:creationId xmlns:a16="http://schemas.microsoft.com/office/drawing/2014/main" id="{4FF1ACA1-0389-11D5-28B1-AFB4E1C3282A}"/>
              </a:ext>
            </a:extLst>
          </p:cNvPr>
          <p:cNvGrpSpPr/>
          <p:nvPr/>
        </p:nvGrpSpPr>
        <p:grpSpPr>
          <a:xfrm>
            <a:off x="5656994" y="4861601"/>
            <a:ext cx="1068900" cy="209032"/>
            <a:chOff x="0" y="0"/>
            <a:chExt cx="185707" cy="65033"/>
          </a:xfrm>
        </p:grpSpPr>
        <p:sp>
          <p:nvSpPr>
            <p:cNvPr id="25" name="Freeform 50">
              <a:extLst>
                <a:ext uri="{FF2B5EF4-FFF2-40B4-BE49-F238E27FC236}">
                  <a16:creationId xmlns:a16="http://schemas.microsoft.com/office/drawing/2014/main" id="{1C85C8CF-DF52-4768-FA07-B6FD157F4A6B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TextBox 51">
              <a:extLst>
                <a:ext uri="{FF2B5EF4-FFF2-40B4-BE49-F238E27FC236}">
                  <a16:creationId xmlns:a16="http://schemas.microsoft.com/office/drawing/2014/main" id="{B1183E56-A000-19E6-249E-EA54E872DC30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7" name="TextBox 52">
            <a:extLst>
              <a:ext uri="{FF2B5EF4-FFF2-40B4-BE49-F238E27FC236}">
                <a16:creationId xmlns:a16="http://schemas.microsoft.com/office/drawing/2014/main" id="{86BD332E-E5B6-DD91-42C5-6F5E5B27EDF6}"/>
              </a:ext>
            </a:extLst>
          </p:cNvPr>
          <p:cNvSpPr txBox="1"/>
          <p:nvPr/>
        </p:nvSpPr>
        <p:spPr>
          <a:xfrm>
            <a:off x="5764030" y="4902306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14067F65-0760-FE8D-6558-11F23797A2B2}"/>
              </a:ext>
            </a:extLst>
          </p:cNvPr>
          <p:cNvSpPr txBox="1"/>
          <p:nvPr/>
        </p:nvSpPr>
        <p:spPr>
          <a:xfrm>
            <a:off x="5505749" y="7686953"/>
            <a:ext cx="1574061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Keychain</a:t>
            </a:r>
          </a:p>
        </p:txBody>
      </p:sp>
      <p:grpSp>
        <p:nvGrpSpPr>
          <p:cNvPr id="29" name="Group 49">
            <a:extLst>
              <a:ext uri="{FF2B5EF4-FFF2-40B4-BE49-F238E27FC236}">
                <a16:creationId xmlns:a16="http://schemas.microsoft.com/office/drawing/2014/main" id="{9120EBEC-09A4-37EA-7955-F60A9CED3E43}"/>
              </a:ext>
            </a:extLst>
          </p:cNvPr>
          <p:cNvGrpSpPr/>
          <p:nvPr/>
        </p:nvGrpSpPr>
        <p:grpSpPr>
          <a:xfrm>
            <a:off x="5764030" y="7937500"/>
            <a:ext cx="1068900" cy="209032"/>
            <a:chOff x="0" y="0"/>
            <a:chExt cx="185707" cy="65033"/>
          </a:xfrm>
        </p:grpSpPr>
        <p:sp>
          <p:nvSpPr>
            <p:cNvPr id="30" name="Freeform 50">
              <a:extLst>
                <a:ext uri="{FF2B5EF4-FFF2-40B4-BE49-F238E27FC236}">
                  <a16:creationId xmlns:a16="http://schemas.microsoft.com/office/drawing/2014/main" id="{47BCDED9-B817-0B23-0303-B0A9D2FB0461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1" name="TextBox 51">
              <a:extLst>
                <a:ext uri="{FF2B5EF4-FFF2-40B4-BE49-F238E27FC236}">
                  <a16:creationId xmlns:a16="http://schemas.microsoft.com/office/drawing/2014/main" id="{0804BFD5-8A68-78E6-596D-D46087EE83EA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2" name="TextBox 52">
            <a:extLst>
              <a:ext uri="{FF2B5EF4-FFF2-40B4-BE49-F238E27FC236}">
                <a16:creationId xmlns:a16="http://schemas.microsoft.com/office/drawing/2014/main" id="{DD391564-4A60-278D-5F43-C619169AC9C6}"/>
              </a:ext>
            </a:extLst>
          </p:cNvPr>
          <p:cNvSpPr txBox="1"/>
          <p:nvPr/>
        </p:nvSpPr>
        <p:spPr>
          <a:xfrm>
            <a:off x="5871066" y="7978205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3991169-AF52-1EC7-3D02-1FFA9EEB5A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68" y="7735212"/>
            <a:ext cx="2974312" cy="2230734"/>
          </a:xfrm>
          <a:prstGeom prst="rect">
            <a:avLst/>
          </a:prstGeom>
        </p:spPr>
      </p:pic>
      <p:sp>
        <p:nvSpPr>
          <p:cNvPr id="6" name="TextBox 42">
            <a:extLst>
              <a:ext uri="{FF2B5EF4-FFF2-40B4-BE49-F238E27FC236}">
                <a16:creationId xmlns:a16="http://schemas.microsoft.com/office/drawing/2014/main" id="{B4E54A21-D71B-6AD3-E588-AB645A9F1558}"/>
              </a:ext>
            </a:extLst>
          </p:cNvPr>
          <p:cNvSpPr txBox="1"/>
          <p:nvPr/>
        </p:nvSpPr>
        <p:spPr>
          <a:xfrm>
            <a:off x="585106" y="10292901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AB2C4B89-FC48-41D6-CB3D-60B4B8623583}"/>
              </a:ext>
            </a:extLst>
          </p:cNvPr>
          <p:cNvSpPr txBox="1"/>
          <p:nvPr/>
        </p:nvSpPr>
        <p:spPr>
          <a:xfrm>
            <a:off x="585106" y="10100975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18" name="AutoShape 44">
            <a:extLst>
              <a:ext uri="{FF2B5EF4-FFF2-40B4-BE49-F238E27FC236}">
                <a16:creationId xmlns:a16="http://schemas.microsoft.com/office/drawing/2014/main" id="{058BA7AD-8A80-EA26-7611-6F95910F71D1}"/>
              </a:ext>
            </a:extLst>
          </p:cNvPr>
          <p:cNvSpPr/>
          <p:nvPr/>
        </p:nvSpPr>
        <p:spPr>
          <a:xfrm>
            <a:off x="2596626" y="10418313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125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5">
            <a:extLst>
              <a:ext uri="{FF2B5EF4-FFF2-40B4-BE49-F238E27FC236}">
                <a16:creationId xmlns:a16="http://schemas.microsoft.com/office/drawing/2014/main" id="{32FBD788-E19E-0C06-FA6D-68BF4CC3ED2E}"/>
              </a:ext>
            </a:extLst>
          </p:cNvPr>
          <p:cNvGrpSpPr/>
          <p:nvPr/>
        </p:nvGrpSpPr>
        <p:grpSpPr>
          <a:xfrm>
            <a:off x="344658" y="247581"/>
            <a:ext cx="7014992" cy="731771"/>
            <a:chOff x="0" y="0"/>
            <a:chExt cx="1128171" cy="174195"/>
          </a:xfrm>
        </p:grpSpPr>
        <p:sp>
          <p:nvSpPr>
            <p:cNvPr id="5" name="Freeform 46">
              <a:extLst>
                <a:ext uri="{FF2B5EF4-FFF2-40B4-BE49-F238E27FC236}">
                  <a16:creationId xmlns:a16="http://schemas.microsoft.com/office/drawing/2014/main" id="{8E455694-5CD2-C207-17B8-184E9B7A42C0}"/>
                </a:ext>
              </a:extLst>
            </p:cNvPr>
            <p:cNvSpPr/>
            <p:nvPr/>
          </p:nvSpPr>
          <p:spPr>
            <a:xfrm>
              <a:off x="0" y="0"/>
              <a:ext cx="1128171" cy="174195"/>
            </a:xfrm>
            <a:custGeom>
              <a:avLst/>
              <a:gdLst/>
              <a:ahLst/>
              <a:cxnLst/>
              <a:rect l="l" t="t" r="r" b="b"/>
              <a:pathLst>
                <a:path w="1128171" h="174195">
                  <a:moveTo>
                    <a:pt x="87098" y="0"/>
                  </a:moveTo>
                  <a:lnTo>
                    <a:pt x="1041073" y="0"/>
                  </a:lnTo>
                  <a:cubicBezTo>
                    <a:pt x="1089176" y="0"/>
                    <a:pt x="1128171" y="38995"/>
                    <a:pt x="1128171" y="87098"/>
                  </a:cubicBezTo>
                  <a:lnTo>
                    <a:pt x="1128171" y="87098"/>
                  </a:lnTo>
                  <a:cubicBezTo>
                    <a:pt x="1128171" y="135200"/>
                    <a:pt x="1089176" y="174195"/>
                    <a:pt x="1041073" y="174195"/>
                  </a:cubicBezTo>
                  <a:lnTo>
                    <a:pt x="87098" y="174195"/>
                  </a:lnTo>
                  <a:cubicBezTo>
                    <a:pt x="38995" y="174195"/>
                    <a:pt x="0" y="135200"/>
                    <a:pt x="0" y="87098"/>
                  </a:cubicBezTo>
                  <a:lnTo>
                    <a:pt x="0" y="87098"/>
                  </a:lnTo>
                  <a:cubicBezTo>
                    <a:pt x="0" y="38995"/>
                    <a:pt x="38995" y="0"/>
                    <a:pt x="8709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47">
              <a:extLst>
                <a:ext uri="{FF2B5EF4-FFF2-40B4-BE49-F238E27FC236}">
                  <a16:creationId xmlns:a16="http://schemas.microsoft.com/office/drawing/2014/main" id="{746B4B73-D23F-B036-800F-928D7F9A4512}"/>
                </a:ext>
              </a:extLst>
            </p:cNvPr>
            <p:cNvSpPr txBox="1"/>
            <p:nvPr/>
          </p:nvSpPr>
          <p:spPr>
            <a:xfrm>
              <a:off x="0" y="-57150"/>
              <a:ext cx="1128171" cy="23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7" name="TextBox 48">
            <a:extLst>
              <a:ext uri="{FF2B5EF4-FFF2-40B4-BE49-F238E27FC236}">
                <a16:creationId xmlns:a16="http://schemas.microsoft.com/office/drawing/2014/main" id="{F1CDF47D-8E36-AE3F-78DA-92C6D3074A21}"/>
              </a:ext>
            </a:extLst>
          </p:cNvPr>
          <p:cNvSpPr txBox="1"/>
          <p:nvPr/>
        </p:nvSpPr>
        <p:spPr>
          <a:xfrm>
            <a:off x="172329" y="422955"/>
            <a:ext cx="7359650" cy="28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1400" b="1" spc="553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RFID HARD TAGS</a:t>
            </a:r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7381404E-912C-C114-BD02-D93796E22E14}"/>
              </a:ext>
            </a:extLst>
          </p:cNvPr>
          <p:cNvSpPr txBox="1"/>
          <p:nvPr/>
        </p:nvSpPr>
        <p:spPr>
          <a:xfrm>
            <a:off x="5073650" y="1838818"/>
            <a:ext cx="1780485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RIDGE-15025</a:t>
            </a:r>
          </a:p>
        </p:txBody>
      </p:sp>
      <p:sp>
        <p:nvSpPr>
          <p:cNvPr id="12" name="TextBox 34">
            <a:extLst>
              <a:ext uri="{FF2B5EF4-FFF2-40B4-BE49-F238E27FC236}">
                <a16:creationId xmlns:a16="http://schemas.microsoft.com/office/drawing/2014/main" id="{B9ABAB48-E966-E6C2-C195-5750D7B144B4}"/>
              </a:ext>
            </a:extLst>
          </p:cNvPr>
          <p:cNvSpPr txBox="1"/>
          <p:nvPr/>
        </p:nvSpPr>
        <p:spPr>
          <a:xfrm>
            <a:off x="5041005" y="2450540"/>
            <a:ext cx="1931769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M730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865-867 </a:t>
            </a:r>
            <a:r>
              <a:rPr lang="en-US" sz="1000" dirty="0" err="1">
                <a:latin typeface="Aptos" panose="020B0004020202020204" pitchFamily="34" charset="0"/>
              </a:rPr>
              <a:t>Mhz</a:t>
            </a:r>
            <a:endParaRPr lang="en-US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 </a:t>
            </a:r>
            <a:r>
              <a:rPr lang="fr-FR" sz="1000" dirty="0">
                <a:latin typeface="Aptos" panose="020B0004020202020204" pitchFamily="34" charset="0"/>
              </a:rPr>
              <a:t>Dimensions: 150X25X15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 err="1">
                <a:latin typeface="Aptos" panose="020B0004020202020204" pitchFamily="34" charset="0"/>
              </a:rPr>
              <a:t>Personalization</a:t>
            </a:r>
            <a:r>
              <a:rPr lang="fr-FR" sz="1000" dirty="0">
                <a:latin typeface="Aptos" panose="020B0004020202020204" pitchFamily="34" charset="0"/>
              </a:rPr>
              <a:t> : Yes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Out body : ABS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Stick On metal surface, heavy metal tracking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13" name="Group 49">
            <a:extLst>
              <a:ext uri="{FF2B5EF4-FFF2-40B4-BE49-F238E27FC236}">
                <a16:creationId xmlns:a16="http://schemas.microsoft.com/office/drawing/2014/main" id="{6DDB1D70-B315-AA26-0732-7F30A1DE794D}"/>
              </a:ext>
            </a:extLst>
          </p:cNvPr>
          <p:cNvGrpSpPr/>
          <p:nvPr/>
        </p:nvGrpSpPr>
        <p:grpSpPr>
          <a:xfrm>
            <a:off x="5421947" y="2105595"/>
            <a:ext cx="1068900" cy="209032"/>
            <a:chOff x="0" y="0"/>
            <a:chExt cx="185707" cy="65033"/>
          </a:xfrm>
        </p:grpSpPr>
        <p:sp>
          <p:nvSpPr>
            <p:cNvPr id="14" name="Freeform 50">
              <a:extLst>
                <a:ext uri="{FF2B5EF4-FFF2-40B4-BE49-F238E27FC236}">
                  <a16:creationId xmlns:a16="http://schemas.microsoft.com/office/drawing/2014/main" id="{28C40E49-DC40-C6E0-EA9E-91D0E19DC56B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51">
              <a:extLst>
                <a:ext uri="{FF2B5EF4-FFF2-40B4-BE49-F238E27FC236}">
                  <a16:creationId xmlns:a16="http://schemas.microsoft.com/office/drawing/2014/main" id="{E5186216-7FEE-5B7F-BCF0-794C18F5EC9D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6" name="TextBox 52">
            <a:extLst>
              <a:ext uri="{FF2B5EF4-FFF2-40B4-BE49-F238E27FC236}">
                <a16:creationId xmlns:a16="http://schemas.microsoft.com/office/drawing/2014/main" id="{C34C9250-FAFB-EB1C-985D-7948A0E7F47E}"/>
              </a:ext>
            </a:extLst>
          </p:cNvPr>
          <p:cNvSpPr txBox="1"/>
          <p:nvPr/>
        </p:nvSpPr>
        <p:spPr>
          <a:xfrm>
            <a:off x="5528983" y="2146300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DE6767B6-9C2E-8C1E-D8CF-97409C401B53}"/>
              </a:ext>
            </a:extLst>
          </p:cNvPr>
          <p:cNvSpPr txBox="1"/>
          <p:nvPr/>
        </p:nvSpPr>
        <p:spPr>
          <a:xfrm>
            <a:off x="5398713" y="4611054"/>
            <a:ext cx="1752914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RIDGE-15030</a:t>
            </a:r>
          </a:p>
        </p:txBody>
      </p:sp>
      <p:grpSp>
        <p:nvGrpSpPr>
          <p:cNvPr id="20" name="Group 49">
            <a:extLst>
              <a:ext uri="{FF2B5EF4-FFF2-40B4-BE49-F238E27FC236}">
                <a16:creationId xmlns:a16="http://schemas.microsoft.com/office/drawing/2014/main" id="{CF113868-6D46-4444-ABEE-9EE551830F6F}"/>
              </a:ext>
            </a:extLst>
          </p:cNvPr>
          <p:cNvGrpSpPr/>
          <p:nvPr/>
        </p:nvGrpSpPr>
        <p:grpSpPr>
          <a:xfrm>
            <a:off x="5656994" y="4861601"/>
            <a:ext cx="1068900" cy="209032"/>
            <a:chOff x="0" y="0"/>
            <a:chExt cx="185707" cy="65033"/>
          </a:xfrm>
        </p:grpSpPr>
        <p:sp>
          <p:nvSpPr>
            <p:cNvPr id="21" name="Freeform 50">
              <a:extLst>
                <a:ext uri="{FF2B5EF4-FFF2-40B4-BE49-F238E27FC236}">
                  <a16:creationId xmlns:a16="http://schemas.microsoft.com/office/drawing/2014/main" id="{F1710EF5-4D2B-2E59-839A-89BDF13F032E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2" name="TextBox 51">
              <a:extLst>
                <a:ext uri="{FF2B5EF4-FFF2-40B4-BE49-F238E27FC236}">
                  <a16:creationId xmlns:a16="http://schemas.microsoft.com/office/drawing/2014/main" id="{C88086B7-81AF-AFE0-8FD4-BCCA55B47F08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3" name="TextBox 52">
            <a:extLst>
              <a:ext uri="{FF2B5EF4-FFF2-40B4-BE49-F238E27FC236}">
                <a16:creationId xmlns:a16="http://schemas.microsoft.com/office/drawing/2014/main" id="{51CAE133-8771-03DE-5D69-2B8F51CADCDB}"/>
              </a:ext>
            </a:extLst>
          </p:cNvPr>
          <p:cNvSpPr txBox="1"/>
          <p:nvPr/>
        </p:nvSpPr>
        <p:spPr>
          <a:xfrm>
            <a:off x="5764030" y="4902306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55BE9197-4667-1D1B-1D3C-CD180BF64ED3}"/>
              </a:ext>
            </a:extLst>
          </p:cNvPr>
          <p:cNvSpPr txBox="1"/>
          <p:nvPr/>
        </p:nvSpPr>
        <p:spPr>
          <a:xfrm>
            <a:off x="5505749" y="7686953"/>
            <a:ext cx="1752914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RIDGE-5618</a:t>
            </a:r>
          </a:p>
        </p:txBody>
      </p:sp>
      <p:grpSp>
        <p:nvGrpSpPr>
          <p:cNvPr id="25" name="Group 49">
            <a:extLst>
              <a:ext uri="{FF2B5EF4-FFF2-40B4-BE49-F238E27FC236}">
                <a16:creationId xmlns:a16="http://schemas.microsoft.com/office/drawing/2014/main" id="{B9848F9B-9E44-D846-7572-A1E08C520127}"/>
              </a:ext>
            </a:extLst>
          </p:cNvPr>
          <p:cNvGrpSpPr/>
          <p:nvPr/>
        </p:nvGrpSpPr>
        <p:grpSpPr>
          <a:xfrm>
            <a:off x="5764030" y="7937500"/>
            <a:ext cx="1068900" cy="209032"/>
            <a:chOff x="0" y="0"/>
            <a:chExt cx="185707" cy="65033"/>
          </a:xfrm>
        </p:grpSpPr>
        <p:sp>
          <p:nvSpPr>
            <p:cNvPr id="26" name="Freeform 50">
              <a:extLst>
                <a:ext uri="{FF2B5EF4-FFF2-40B4-BE49-F238E27FC236}">
                  <a16:creationId xmlns:a16="http://schemas.microsoft.com/office/drawing/2014/main" id="{BD09A124-5FB6-D14C-61ED-9B5B49DD978A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" name="TextBox 51">
              <a:extLst>
                <a:ext uri="{FF2B5EF4-FFF2-40B4-BE49-F238E27FC236}">
                  <a16:creationId xmlns:a16="http://schemas.microsoft.com/office/drawing/2014/main" id="{F7A405EE-6C6A-D22E-6696-02A22B958E72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8" name="TextBox 52">
            <a:extLst>
              <a:ext uri="{FF2B5EF4-FFF2-40B4-BE49-F238E27FC236}">
                <a16:creationId xmlns:a16="http://schemas.microsoft.com/office/drawing/2014/main" id="{19EE62F4-1B68-D29E-1A81-2946DC91A5B9}"/>
              </a:ext>
            </a:extLst>
          </p:cNvPr>
          <p:cNvSpPr txBox="1"/>
          <p:nvPr/>
        </p:nvSpPr>
        <p:spPr>
          <a:xfrm>
            <a:off x="5871066" y="7978205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2D57C2A-0570-5063-E418-6105C83A72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72125">
            <a:off x="852054" y="1300484"/>
            <a:ext cx="1902659" cy="2536878"/>
          </a:xfrm>
          <a:prstGeom prst="rect">
            <a:avLst/>
          </a:prstGeom>
        </p:spPr>
      </p:pic>
      <p:sp>
        <p:nvSpPr>
          <p:cNvPr id="31" name="TextBox 34">
            <a:extLst>
              <a:ext uri="{FF2B5EF4-FFF2-40B4-BE49-F238E27FC236}">
                <a16:creationId xmlns:a16="http://schemas.microsoft.com/office/drawing/2014/main" id="{7195A424-68AA-5EB2-B64C-F7426674924A}"/>
              </a:ext>
            </a:extLst>
          </p:cNvPr>
          <p:cNvSpPr txBox="1"/>
          <p:nvPr/>
        </p:nvSpPr>
        <p:spPr>
          <a:xfrm>
            <a:off x="5219858" y="5241335"/>
            <a:ext cx="1931769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M730/Higgs 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865-867 </a:t>
            </a:r>
            <a:r>
              <a:rPr lang="en-US" sz="1000" dirty="0" err="1">
                <a:latin typeface="Aptos" panose="020B0004020202020204" pitchFamily="34" charset="0"/>
              </a:rPr>
              <a:t>Mhz</a:t>
            </a:r>
            <a:endParaRPr lang="en-US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 </a:t>
            </a:r>
            <a:r>
              <a:rPr lang="fr-FR" sz="1000" dirty="0">
                <a:latin typeface="Aptos" panose="020B0004020202020204" pitchFamily="34" charset="0"/>
              </a:rPr>
              <a:t>Dimensions: 150X30X15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 err="1">
                <a:latin typeface="Aptos" panose="020B0004020202020204" pitchFamily="34" charset="0"/>
              </a:rPr>
              <a:t>Personalization</a:t>
            </a:r>
            <a:r>
              <a:rPr lang="fr-FR" sz="1000" dirty="0">
                <a:latin typeface="Aptos" panose="020B0004020202020204" pitchFamily="34" charset="0"/>
              </a:rPr>
              <a:t> : Yes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Out body : ABS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Stick On metal surface, heavy metal tracking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72FF64F-9071-0472-7C16-72497E7835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1423" y="4119758"/>
            <a:ext cx="1482211" cy="263504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288BBAE-4A9A-5346-B6C2-12E03784C4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936583">
            <a:off x="553125" y="7079237"/>
            <a:ext cx="1497627" cy="2662447"/>
          </a:xfrm>
          <a:prstGeom prst="rect">
            <a:avLst/>
          </a:prstGeom>
        </p:spPr>
      </p:pic>
      <p:sp>
        <p:nvSpPr>
          <p:cNvPr id="36" name="TextBox 34">
            <a:extLst>
              <a:ext uri="{FF2B5EF4-FFF2-40B4-BE49-F238E27FC236}">
                <a16:creationId xmlns:a16="http://schemas.microsoft.com/office/drawing/2014/main" id="{942DF2EE-B469-5F88-EFC8-D308563E4B2C}"/>
              </a:ext>
            </a:extLst>
          </p:cNvPr>
          <p:cNvSpPr txBox="1"/>
          <p:nvPr/>
        </p:nvSpPr>
        <p:spPr>
          <a:xfrm>
            <a:off x="5398713" y="8358456"/>
            <a:ext cx="1931769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M730/Higgs 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865-867 </a:t>
            </a:r>
            <a:r>
              <a:rPr lang="en-US" sz="1000" dirty="0" err="1">
                <a:latin typeface="Aptos" panose="020B0004020202020204" pitchFamily="34" charset="0"/>
              </a:rPr>
              <a:t>Mhz</a:t>
            </a:r>
            <a:endParaRPr lang="en-US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 </a:t>
            </a:r>
            <a:r>
              <a:rPr lang="fr-FR" sz="1000" dirty="0">
                <a:latin typeface="Aptos" panose="020B0004020202020204" pitchFamily="34" charset="0"/>
              </a:rPr>
              <a:t>Dimensions: 56X18X8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 err="1">
                <a:latin typeface="Aptos" panose="020B0004020202020204" pitchFamily="34" charset="0"/>
              </a:rPr>
              <a:t>Personalization</a:t>
            </a:r>
            <a:r>
              <a:rPr lang="fr-FR" sz="1000" dirty="0">
                <a:latin typeface="Aptos" panose="020B0004020202020204" pitchFamily="34" charset="0"/>
              </a:rPr>
              <a:t> : Yes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Out body : ABS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Stick On metal surface, heavy metal tracking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sp>
        <p:nvSpPr>
          <p:cNvPr id="2" name="TextBox 42">
            <a:extLst>
              <a:ext uri="{FF2B5EF4-FFF2-40B4-BE49-F238E27FC236}">
                <a16:creationId xmlns:a16="http://schemas.microsoft.com/office/drawing/2014/main" id="{BBA6AC85-78B6-E4CF-71E8-57FDFD8DB321}"/>
              </a:ext>
            </a:extLst>
          </p:cNvPr>
          <p:cNvSpPr txBox="1"/>
          <p:nvPr/>
        </p:nvSpPr>
        <p:spPr>
          <a:xfrm>
            <a:off x="457885" y="10189658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3" name="TextBox 43">
            <a:extLst>
              <a:ext uri="{FF2B5EF4-FFF2-40B4-BE49-F238E27FC236}">
                <a16:creationId xmlns:a16="http://schemas.microsoft.com/office/drawing/2014/main" id="{8954BE8D-A76B-7C3C-3AB8-44C2898B5276}"/>
              </a:ext>
            </a:extLst>
          </p:cNvPr>
          <p:cNvSpPr txBox="1"/>
          <p:nvPr/>
        </p:nvSpPr>
        <p:spPr>
          <a:xfrm>
            <a:off x="457885" y="9997732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8" name="AutoShape 44">
            <a:extLst>
              <a:ext uri="{FF2B5EF4-FFF2-40B4-BE49-F238E27FC236}">
                <a16:creationId xmlns:a16="http://schemas.microsoft.com/office/drawing/2014/main" id="{C36F45A3-EA58-2867-32C0-A3B76A3EAEC4}"/>
              </a:ext>
            </a:extLst>
          </p:cNvPr>
          <p:cNvSpPr/>
          <p:nvPr/>
        </p:nvSpPr>
        <p:spPr>
          <a:xfrm>
            <a:off x="2469405" y="10315070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486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5">
            <a:extLst>
              <a:ext uri="{FF2B5EF4-FFF2-40B4-BE49-F238E27FC236}">
                <a16:creationId xmlns:a16="http://schemas.microsoft.com/office/drawing/2014/main" id="{5FD7E71F-E351-F3E1-D1A8-85951DBF38C6}"/>
              </a:ext>
            </a:extLst>
          </p:cNvPr>
          <p:cNvGrpSpPr/>
          <p:nvPr/>
        </p:nvGrpSpPr>
        <p:grpSpPr>
          <a:xfrm>
            <a:off x="344658" y="247581"/>
            <a:ext cx="7014992" cy="731771"/>
            <a:chOff x="0" y="0"/>
            <a:chExt cx="1128171" cy="174195"/>
          </a:xfrm>
        </p:grpSpPr>
        <p:sp>
          <p:nvSpPr>
            <p:cNvPr id="3" name="Freeform 46">
              <a:extLst>
                <a:ext uri="{FF2B5EF4-FFF2-40B4-BE49-F238E27FC236}">
                  <a16:creationId xmlns:a16="http://schemas.microsoft.com/office/drawing/2014/main" id="{39F600F8-298A-BEE2-7CC9-9ED958FE9E0E}"/>
                </a:ext>
              </a:extLst>
            </p:cNvPr>
            <p:cNvSpPr/>
            <p:nvPr/>
          </p:nvSpPr>
          <p:spPr>
            <a:xfrm>
              <a:off x="0" y="0"/>
              <a:ext cx="1128171" cy="174195"/>
            </a:xfrm>
            <a:custGeom>
              <a:avLst/>
              <a:gdLst/>
              <a:ahLst/>
              <a:cxnLst/>
              <a:rect l="l" t="t" r="r" b="b"/>
              <a:pathLst>
                <a:path w="1128171" h="174195">
                  <a:moveTo>
                    <a:pt x="87098" y="0"/>
                  </a:moveTo>
                  <a:lnTo>
                    <a:pt x="1041073" y="0"/>
                  </a:lnTo>
                  <a:cubicBezTo>
                    <a:pt x="1089176" y="0"/>
                    <a:pt x="1128171" y="38995"/>
                    <a:pt x="1128171" y="87098"/>
                  </a:cubicBezTo>
                  <a:lnTo>
                    <a:pt x="1128171" y="87098"/>
                  </a:lnTo>
                  <a:cubicBezTo>
                    <a:pt x="1128171" y="135200"/>
                    <a:pt x="1089176" y="174195"/>
                    <a:pt x="1041073" y="174195"/>
                  </a:cubicBezTo>
                  <a:lnTo>
                    <a:pt x="87098" y="174195"/>
                  </a:lnTo>
                  <a:cubicBezTo>
                    <a:pt x="38995" y="174195"/>
                    <a:pt x="0" y="135200"/>
                    <a:pt x="0" y="87098"/>
                  </a:cubicBezTo>
                  <a:lnTo>
                    <a:pt x="0" y="87098"/>
                  </a:lnTo>
                  <a:cubicBezTo>
                    <a:pt x="0" y="38995"/>
                    <a:pt x="38995" y="0"/>
                    <a:pt x="8709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7">
              <a:extLst>
                <a:ext uri="{FF2B5EF4-FFF2-40B4-BE49-F238E27FC236}">
                  <a16:creationId xmlns:a16="http://schemas.microsoft.com/office/drawing/2014/main" id="{342C7738-87D7-B058-5716-0D533C5DF9B3}"/>
                </a:ext>
              </a:extLst>
            </p:cNvPr>
            <p:cNvSpPr txBox="1"/>
            <p:nvPr/>
          </p:nvSpPr>
          <p:spPr>
            <a:xfrm>
              <a:off x="0" y="-57150"/>
              <a:ext cx="1128171" cy="23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48">
            <a:extLst>
              <a:ext uri="{FF2B5EF4-FFF2-40B4-BE49-F238E27FC236}">
                <a16:creationId xmlns:a16="http://schemas.microsoft.com/office/drawing/2014/main" id="{2EFE1615-ADB6-E96E-5DBB-752D1ECEC45D}"/>
              </a:ext>
            </a:extLst>
          </p:cNvPr>
          <p:cNvSpPr txBox="1"/>
          <p:nvPr/>
        </p:nvSpPr>
        <p:spPr>
          <a:xfrm>
            <a:off x="172329" y="422955"/>
            <a:ext cx="7359650" cy="28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1400" b="1" spc="553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RFID HARD TAGS</a:t>
            </a: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B262163B-96FE-48D0-A35D-A0941F81D2D9}"/>
              </a:ext>
            </a:extLst>
          </p:cNvPr>
          <p:cNvSpPr txBox="1"/>
          <p:nvPr/>
        </p:nvSpPr>
        <p:spPr>
          <a:xfrm>
            <a:off x="5073650" y="1838818"/>
            <a:ext cx="1780485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RIDGE-11025</a:t>
            </a: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761A36A1-A553-00F8-1CF0-1CA53CE2A6CB}"/>
              </a:ext>
            </a:extLst>
          </p:cNvPr>
          <p:cNvSpPr txBox="1"/>
          <p:nvPr/>
        </p:nvSpPr>
        <p:spPr>
          <a:xfrm>
            <a:off x="5041005" y="2450540"/>
            <a:ext cx="1931769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M730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865-867 </a:t>
            </a:r>
            <a:r>
              <a:rPr lang="en-US" sz="1000" dirty="0" err="1">
                <a:latin typeface="Aptos" panose="020B0004020202020204" pitchFamily="34" charset="0"/>
              </a:rPr>
              <a:t>Mhz</a:t>
            </a:r>
            <a:endParaRPr lang="en-US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 </a:t>
            </a:r>
            <a:r>
              <a:rPr lang="fr-FR" sz="1000" dirty="0">
                <a:latin typeface="Aptos" panose="020B0004020202020204" pitchFamily="34" charset="0"/>
              </a:rPr>
              <a:t>Dimensions: 110X25X8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 err="1">
                <a:latin typeface="Aptos" panose="020B0004020202020204" pitchFamily="34" charset="0"/>
              </a:rPr>
              <a:t>Personalization</a:t>
            </a:r>
            <a:r>
              <a:rPr lang="fr-FR" sz="1000" dirty="0">
                <a:latin typeface="Aptos" panose="020B0004020202020204" pitchFamily="34" charset="0"/>
              </a:rPr>
              <a:t> : Yes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Out body : ABS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Stick off metal surface, wooden pallet tracking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8" name="Group 49">
            <a:extLst>
              <a:ext uri="{FF2B5EF4-FFF2-40B4-BE49-F238E27FC236}">
                <a16:creationId xmlns:a16="http://schemas.microsoft.com/office/drawing/2014/main" id="{6E906F86-5C9F-0FFB-BF3A-41587DAA25EA}"/>
              </a:ext>
            </a:extLst>
          </p:cNvPr>
          <p:cNvGrpSpPr/>
          <p:nvPr/>
        </p:nvGrpSpPr>
        <p:grpSpPr>
          <a:xfrm>
            <a:off x="5421947" y="2105595"/>
            <a:ext cx="1068900" cy="209032"/>
            <a:chOff x="0" y="0"/>
            <a:chExt cx="185707" cy="65033"/>
          </a:xfrm>
        </p:grpSpPr>
        <p:sp>
          <p:nvSpPr>
            <p:cNvPr id="9" name="Freeform 50">
              <a:extLst>
                <a:ext uri="{FF2B5EF4-FFF2-40B4-BE49-F238E27FC236}">
                  <a16:creationId xmlns:a16="http://schemas.microsoft.com/office/drawing/2014/main" id="{3BA44854-C651-5D74-25E5-AF34D40F951A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51">
              <a:extLst>
                <a:ext uri="{FF2B5EF4-FFF2-40B4-BE49-F238E27FC236}">
                  <a16:creationId xmlns:a16="http://schemas.microsoft.com/office/drawing/2014/main" id="{2439AE4B-85D3-C0F8-006E-86FB846AC8AE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52">
            <a:extLst>
              <a:ext uri="{FF2B5EF4-FFF2-40B4-BE49-F238E27FC236}">
                <a16:creationId xmlns:a16="http://schemas.microsoft.com/office/drawing/2014/main" id="{81072DD3-7C82-2487-7932-B42A66D860A5}"/>
              </a:ext>
            </a:extLst>
          </p:cNvPr>
          <p:cNvSpPr txBox="1"/>
          <p:nvPr/>
        </p:nvSpPr>
        <p:spPr>
          <a:xfrm>
            <a:off x="5528983" y="2146300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96C118-22A5-4815-63A1-CAFEACFB1C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77605" y="976818"/>
            <a:ext cx="2507923" cy="3343898"/>
          </a:xfrm>
          <a:prstGeom prst="rect">
            <a:avLst/>
          </a:prstGeom>
        </p:spPr>
      </p:pic>
      <p:sp>
        <p:nvSpPr>
          <p:cNvPr id="15" name="TextBox 22">
            <a:extLst>
              <a:ext uri="{FF2B5EF4-FFF2-40B4-BE49-F238E27FC236}">
                <a16:creationId xmlns:a16="http://schemas.microsoft.com/office/drawing/2014/main" id="{ACEF2631-E6DE-E470-C29C-7CB26AED9CBD}"/>
              </a:ext>
            </a:extLst>
          </p:cNvPr>
          <p:cNvSpPr txBox="1"/>
          <p:nvPr/>
        </p:nvSpPr>
        <p:spPr>
          <a:xfrm>
            <a:off x="5180686" y="4228146"/>
            <a:ext cx="2178964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RIDGE-ACRYLIC</a:t>
            </a:r>
          </a:p>
        </p:txBody>
      </p:sp>
      <p:sp>
        <p:nvSpPr>
          <p:cNvPr id="16" name="TextBox 34">
            <a:extLst>
              <a:ext uri="{FF2B5EF4-FFF2-40B4-BE49-F238E27FC236}">
                <a16:creationId xmlns:a16="http://schemas.microsoft.com/office/drawing/2014/main" id="{D626C354-F219-8C3C-CBBC-7FBCEC0606A3}"/>
              </a:ext>
            </a:extLst>
          </p:cNvPr>
          <p:cNvSpPr txBox="1"/>
          <p:nvPr/>
        </p:nvSpPr>
        <p:spPr>
          <a:xfrm>
            <a:off x="5148041" y="4839868"/>
            <a:ext cx="1931769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M730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865-867 </a:t>
            </a:r>
            <a:r>
              <a:rPr lang="en-US" sz="1000" dirty="0" err="1">
                <a:latin typeface="Aptos" panose="020B0004020202020204" pitchFamily="34" charset="0"/>
              </a:rPr>
              <a:t>Mhz</a:t>
            </a:r>
            <a:endParaRPr lang="en-US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 </a:t>
            </a:r>
            <a:r>
              <a:rPr lang="fr-FR" sz="1000" dirty="0">
                <a:latin typeface="Aptos" panose="020B0004020202020204" pitchFamily="34" charset="0"/>
              </a:rPr>
              <a:t>Dimensions: 70X30X3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 err="1">
                <a:latin typeface="Aptos" panose="020B0004020202020204" pitchFamily="34" charset="0"/>
              </a:rPr>
              <a:t>Personalization</a:t>
            </a:r>
            <a:r>
              <a:rPr lang="fr-FR" sz="1000" dirty="0">
                <a:latin typeface="Aptos" panose="020B0004020202020204" pitchFamily="34" charset="0"/>
              </a:rPr>
              <a:t> : Yes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Out body : ACRYLIC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Stick off /on metal surface, metal assets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17" name="Group 49">
            <a:extLst>
              <a:ext uri="{FF2B5EF4-FFF2-40B4-BE49-F238E27FC236}">
                <a16:creationId xmlns:a16="http://schemas.microsoft.com/office/drawing/2014/main" id="{8F98ECC7-3865-3513-6DC8-852EFF1736FA}"/>
              </a:ext>
            </a:extLst>
          </p:cNvPr>
          <p:cNvGrpSpPr/>
          <p:nvPr/>
        </p:nvGrpSpPr>
        <p:grpSpPr>
          <a:xfrm>
            <a:off x="5528983" y="4494923"/>
            <a:ext cx="1068900" cy="209032"/>
            <a:chOff x="0" y="0"/>
            <a:chExt cx="185707" cy="65033"/>
          </a:xfrm>
        </p:grpSpPr>
        <p:sp>
          <p:nvSpPr>
            <p:cNvPr id="18" name="Freeform 50">
              <a:extLst>
                <a:ext uri="{FF2B5EF4-FFF2-40B4-BE49-F238E27FC236}">
                  <a16:creationId xmlns:a16="http://schemas.microsoft.com/office/drawing/2014/main" id="{B287DE4B-9C4C-C8B4-6FA9-794F856EF8AB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TextBox 51">
              <a:extLst>
                <a:ext uri="{FF2B5EF4-FFF2-40B4-BE49-F238E27FC236}">
                  <a16:creationId xmlns:a16="http://schemas.microsoft.com/office/drawing/2014/main" id="{935C046B-0E39-7E79-5A7E-9C0E5AA4AF8D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0" name="TextBox 52">
            <a:extLst>
              <a:ext uri="{FF2B5EF4-FFF2-40B4-BE49-F238E27FC236}">
                <a16:creationId xmlns:a16="http://schemas.microsoft.com/office/drawing/2014/main" id="{F9DA861B-1F70-9162-31A6-A16B0706E62B}"/>
              </a:ext>
            </a:extLst>
          </p:cNvPr>
          <p:cNvSpPr txBox="1"/>
          <p:nvPr/>
        </p:nvSpPr>
        <p:spPr>
          <a:xfrm>
            <a:off x="5636019" y="4535628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8E78129-D090-CA1D-7176-08D1B668F7B7}"/>
              </a:ext>
            </a:extLst>
          </p:cNvPr>
          <p:cNvSpPr txBox="1"/>
          <p:nvPr/>
        </p:nvSpPr>
        <p:spPr>
          <a:xfrm>
            <a:off x="5198165" y="6611424"/>
            <a:ext cx="1780485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RIDGE-PVC</a:t>
            </a:r>
          </a:p>
        </p:txBody>
      </p:sp>
      <p:sp>
        <p:nvSpPr>
          <p:cNvPr id="23" name="TextBox 34">
            <a:extLst>
              <a:ext uri="{FF2B5EF4-FFF2-40B4-BE49-F238E27FC236}">
                <a16:creationId xmlns:a16="http://schemas.microsoft.com/office/drawing/2014/main" id="{43931EAC-D3CE-41BA-A964-47902F44B8CB}"/>
              </a:ext>
            </a:extLst>
          </p:cNvPr>
          <p:cNvSpPr txBox="1"/>
          <p:nvPr/>
        </p:nvSpPr>
        <p:spPr>
          <a:xfrm>
            <a:off x="5148041" y="7223146"/>
            <a:ext cx="1931769" cy="1494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M730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865-867 </a:t>
            </a:r>
            <a:r>
              <a:rPr lang="en-US" sz="1000" dirty="0" err="1">
                <a:latin typeface="Aptos" panose="020B0004020202020204" pitchFamily="34" charset="0"/>
              </a:rPr>
              <a:t>Mhz</a:t>
            </a:r>
            <a:endParaRPr lang="en-US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 </a:t>
            </a:r>
            <a:r>
              <a:rPr lang="fr-FR" sz="1000" dirty="0">
                <a:latin typeface="Aptos" panose="020B0004020202020204" pitchFamily="34" charset="0"/>
              </a:rPr>
              <a:t>Dimensions: 110X25X1 MM 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>
                <a:latin typeface="Aptos" panose="020B0004020202020204" pitchFamily="34" charset="0"/>
              </a:rPr>
              <a:t>and 40x15x1mm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 err="1">
                <a:latin typeface="Aptos" panose="020B0004020202020204" pitchFamily="34" charset="0"/>
              </a:rPr>
              <a:t>Personalization</a:t>
            </a:r>
            <a:r>
              <a:rPr lang="fr-FR" sz="1000" dirty="0">
                <a:latin typeface="Aptos" panose="020B0004020202020204" pitchFamily="34" charset="0"/>
              </a:rPr>
              <a:t> : Yes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Out body : PVC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Stick off metal surface, wooden pallet tracking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24" name="Group 49">
            <a:extLst>
              <a:ext uri="{FF2B5EF4-FFF2-40B4-BE49-F238E27FC236}">
                <a16:creationId xmlns:a16="http://schemas.microsoft.com/office/drawing/2014/main" id="{7382C988-9135-2AE8-DA89-D6A1BB91C7C6}"/>
              </a:ext>
            </a:extLst>
          </p:cNvPr>
          <p:cNvGrpSpPr/>
          <p:nvPr/>
        </p:nvGrpSpPr>
        <p:grpSpPr>
          <a:xfrm>
            <a:off x="5528983" y="6878201"/>
            <a:ext cx="1068900" cy="209032"/>
            <a:chOff x="0" y="0"/>
            <a:chExt cx="185707" cy="65033"/>
          </a:xfrm>
        </p:grpSpPr>
        <p:sp>
          <p:nvSpPr>
            <p:cNvPr id="25" name="Freeform 50">
              <a:extLst>
                <a:ext uri="{FF2B5EF4-FFF2-40B4-BE49-F238E27FC236}">
                  <a16:creationId xmlns:a16="http://schemas.microsoft.com/office/drawing/2014/main" id="{4E90583D-E21F-D59E-D726-74E15C3B180D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6" name="TextBox 51">
              <a:extLst>
                <a:ext uri="{FF2B5EF4-FFF2-40B4-BE49-F238E27FC236}">
                  <a16:creationId xmlns:a16="http://schemas.microsoft.com/office/drawing/2014/main" id="{4124F7E3-30A2-1D88-AAB1-F25C2C3775E0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7" name="TextBox 52">
            <a:extLst>
              <a:ext uri="{FF2B5EF4-FFF2-40B4-BE49-F238E27FC236}">
                <a16:creationId xmlns:a16="http://schemas.microsoft.com/office/drawing/2014/main" id="{F0888D8F-568C-F300-15EB-AB878663D99C}"/>
              </a:ext>
            </a:extLst>
          </p:cNvPr>
          <p:cNvSpPr txBox="1"/>
          <p:nvPr/>
        </p:nvSpPr>
        <p:spPr>
          <a:xfrm>
            <a:off x="5636019" y="6918906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92A045A-3DE4-2532-AEFD-FE59AB4A6F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54" y="3398380"/>
            <a:ext cx="3230674" cy="339229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E567C3E-3D11-785C-CBED-404A00CC69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61" y="6878201"/>
            <a:ext cx="2408459" cy="3211279"/>
          </a:xfrm>
          <a:prstGeom prst="rect">
            <a:avLst/>
          </a:prstGeom>
        </p:spPr>
      </p:pic>
      <p:sp>
        <p:nvSpPr>
          <p:cNvPr id="12" name="TextBox 42">
            <a:extLst>
              <a:ext uri="{FF2B5EF4-FFF2-40B4-BE49-F238E27FC236}">
                <a16:creationId xmlns:a16="http://schemas.microsoft.com/office/drawing/2014/main" id="{75DC5F2A-1758-93B5-2C24-7DD964C99493}"/>
              </a:ext>
            </a:extLst>
          </p:cNvPr>
          <p:cNvSpPr txBox="1"/>
          <p:nvPr/>
        </p:nvSpPr>
        <p:spPr>
          <a:xfrm>
            <a:off x="459617" y="10257344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13" name="TextBox 43">
            <a:extLst>
              <a:ext uri="{FF2B5EF4-FFF2-40B4-BE49-F238E27FC236}">
                <a16:creationId xmlns:a16="http://schemas.microsoft.com/office/drawing/2014/main" id="{1752CB1F-0C60-CAD1-FBEA-974C8EA46429}"/>
              </a:ext>
            </a:extLst>
          </p:cNvPr>
          <p:cNvSpPr txBox="1"/>
          <p:nvPr/>
        </p:nvSpPr>
        <p:spPr>
          <a:xfrm>
            <a:off x="459617" y="10065418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21" name="AutoShape 44">
            <a:extLst>
              <a:ext uri="{FF2B5EF4-FFF2-40B4-BE49-F238E27FC236}">
                <a16:creationId xmlns:a16="http://schemas.microsoft.com/office/drawing/2014/main" id="{21DBE7F4-54FB-3DBD-8B0F-528575DA5C40}"/>
              </a:ext>
            </a:extLst>
          </p:cNvPr>
          <p:cNvSpPr/>
          <p:nvPr/>
        </p:nvSpPr>
        <p:spPr>
          <a:xfrm>
            <a:off x="2471137" y="10382756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170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5">
            <a:extLst>
              <a:ext uri="{FF2B5EF4-FFF2-40B4-BE49-F238E27FC236}">
                <a16:creationId xmlns:a16="http://schemas.microsoft.com/office/drawing/2014/main" id="{8913CA0A-72D5-E28E-74DE-645D5876B2E6}"/>
              </a:ext>
            </a:extLst>
          </p:cNvPr>
          <p:cNvGrpSpPr/>
          <p:nvPr/>
        </p:nvGrpSpPr>
        <p:grpSpPr>
          <a:xfrm>
            <a:off x="344658" y="247581"/>
            <a:ext cx="7014992" cy="731771"/>
            <a:chOff x="0" y="0"/>
            <a:chExt cx="1128171" cy="174195"/>
          </a:xfrm>
        </p:grpSpPr>
        <p:sp>
          <p:nvSpPr>
            <p:cNvPr id="3" name="Freeform 46">
              <a:extLst>
                <a:ext uri="{FF2B5EF4-FFF2-40B4-BE49-F238E27FC236}">
                  <a16:creationId xmlns:a16="http://schemas.microsoft.com/office/drawing/2014/main" id="{628222AB-644A-E3FB-A719-EFD8E413EA6F}"/>
                </a:ext>
              </a:extLst>
            </p:cNvPr>
            <p:cNvSpPr/>
            <p:nvPr/>
          </p:nvSpPr>
          <p:spPr>
            <a:xfrm>
              <a:off x="0" y="0"/>
              <a:ext cx="1128171" cy="174195"/>
            </a:xfrm>
            <a:custGeom>
              <a:avLst/>
              <a:gdLst/>
              <a:ahLst/>
              <a:cxnLst/>
              <a:rect l="l" t="t" r="r" b="b"/>
              <a:pathLst>
                <a:path w="1128171" h="174195">
                  <a:moveTo>
                    <a:pt x="87098" y="0"/>
                  </a:moveTo>
                  <a:lnTo>
                    <a:pt x="1041073" y="0"/>
                  </a:lnTo>
                  <a:cubicBezTo>
                    <a:pt x="1089176" y="0"/>
                    <a:pt x="1128171" y="38995"/>
                    <a:pt x="1128171" y="87098"/>
                  </a:cubicBezTo>
                  <a:lnTo>
                    <a:pt x="1128171" y="87098"/>
                  </a:lnTo>
                  <a:cubicBezTo>
                    <a:pt x="1128171" y="135200"/>
                    <a:pt x="1089176" y="174195"/>
                    <a:pt x="1041073" y="174195"/>
                  </a:cubicBezTo>
                  <a:lnTo>
                    <a:pt x="87098" y="174195"/>
                  </a:lnTo>
                  <a:cubicBezTo>
                    <a:pt x="38995" y="174195"/>
                    <a:pt x="0" y="135200"/>
                    <a:pt x="0" y="87098"/>
                  </a:cubicBezTo>
                  <a:lnTo>
                    <a:pt x="0" y="87098"/>
                  </a:lnTo>
                  <a:cubicBezTo>
                    <a:pt x="0" y="38995"/>
                    <a:pt x="38995" y="0"/>
                    <a:pt x="87098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7">
              <a:extLst>
                <a:ext uri="{FF2B5EF4-FFF2-40B4-BE49-F238E27FC236}">
                  <a16:creationId xmlns:a16="http://schemas.microsoft.com/office/drawing/2014/main" id="{009B799B-6B10-55DA-9E0B-0BFB224D60CF}"/>
                </a:ext>
              </a:extLst>
            </p:cNvPr>
            <p:cNvSpPr txBox="1"/>
            <p:nvPr/>
          </p:nvSpPr>
          <p:spPr>
            <a:xfrm>
              <a:off x="0" y="-57150"/>
              <a:ext cx="1128171" cy="23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48">
            <a:extLst>
              <a:ext uri="{FF2B5EF4-FFF2-40B4-BE49-F238E27FC236}">
                <a16:creationId xmlns:a16="http://schemas.microsoft.com/office/drawing/2014/main" id="{159570A5-845C-4509-E1B0-146C01C1839F}"/>
              </a:ext>
            </a:extLst>
          </p:cNvPr>
          <p:cNvSpPr txBox="1"/>
          <p:nvPr/>
        </p:nvSpPr>
        <p:spPr>
          <a:xfrm>
            <a:off x="172329" y="422955"/>
            <a:ext cx="7359650" cy="280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  <a:spcBef>
                <a:spcPct val="0"/>
              </a:spcBef>
            </a:pPr>
            <a:r>
              <a:rPr lang="en-US" sz="1400" b="1" spc="553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  <a:ea typeface="Tabarra Round Bold"/>
                <a:cs typeface="Tabarra Round Bold"/>
                <a:sym typeface="Tabarra Round Bold"/>
              </a:rPr>
              <a:t>RFID PCB TAGS</a:t>
            </a: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DE29B314-A349-9C75-7824-46BC371CE1CA}"/>
              </a:ext>
            </a:extLst>
          </p:cNvPr>
          <p:cNvSpPr txBox="1"/>
          <p:nvPr/>
        </p:nvSpPr>
        <p:spPr>
          <a:xfrm>
            <a:off x="5073650" y="1775844"/>
            <a:ext cx="2006160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RIDGE-PCB-5507</a:t>
            </a: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F9B37B2C-AD08-32F2-AC7E-93C207E6D740}"/>
              </a:ext>
            </a:extLst>
          </p:cNvPr>
          <p:cNvSpPr txBox="1"/>
          <p:nvPr/>
        </p:nvSpPr>
        <p:spPr>
          <a:xfrm>
            <a:off x="5041005" y="2450540"/>
            <a:ext cx="1931769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HIGSS 3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865-867 </a:t>
            </a:r>
            <a:r>
              <a:rPr lang="en-US" sz="1000" dirty="0" err="1">
                <a:latin typeface="Aptos" panose="020B0004020202020204" pitchFamily="34" charset="0"/>
              </a:rPr>
              <a:t>Mhz</a:t>
            </a:r>
            <a:endParaRPr lang="en-US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 </a:t>
            </a:r>
            <a:r>
              <a:rPr lang="fr-FR" sz="1000" dirty="0">
                <a:latin typeface="Aptos" panose="020B0004020202020204" pitchFamily="34" charset="0"/>
              </a:rPr>
              <a:t>Dimensions: 55X7X3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 err="1">
                <a:latin typeface="Aptos" panose="020B0004020202020204" pitchFamily="34" charset="0"/>
              </a:rPr>
              <a:t>Personalization</a:t>
            </a:r>
            <a:r>
              <a:rPr lang="fr-FR" sz="1000" dirty="0">
                <a:latin typeface="Aptos" panose="020B0004020202020204" pitchFamily="34" charset="0"/>
              </a:rPr>
              <a:t> : Yes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Out body : PLASTIC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Stick </a:t>
            </a:r>
            <a:r>
              <a:rPr lang="en-US" sz="1000" dirty="0" err="1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oon</a:t>
            </a: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 metal surface, metal assets, tool tracking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8" name="Group 49">
            <a:extLst>
              <a:ext uri="{FF2B5EF4-FFF2-40B4-BE49-F238E27FC236}">
                <a16:creationId xmlns:a16="http://schemas.microsoft.com/office/drawing/2014/main" id="{9980D7D7-BF3E-47A1-CD7C-1F87F1DCC39B}"/>
              </a:ext>
            </a:extLst>
          </p:cNvPr>
          <p:cNvGrpSpPr/>
          <p:nvPr/>
        </p:nvGrpSpPr>
        <p:grpSpPr>
          <a:xfrm>
            <a:off x="5421947" y="2105595"/>
            <a:ext cx="1068900" cy="209032"/>
            <a:chOff x="0" y="0"/>
            <a:chExt cx="185707" cy="65033"/>
          </a:xfrm>
        </p:grpSpPr>
        <p:sp>
          <p:nvSpPr>
            <p:cNvPr id="9" name="Freeform 50">
              <a:extLst>
                <a:ext uri="{FF2B5EF4-FFF2-40B4-BE49-F238E27FC236}">
                  <a16:creationId xmlns:a16="http://schemas.microsoft.com/office/drawing/2014/main" id="{40511B83-4B3D-2B56-F475-71C58FF89386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51">
              <a:extLst>
                <a:ext uri="{FF2B5EF4-FFF2-40B4-BE49-F238E27FC236}">
                  <a16:creationId xmlns:a16="http://schemas.microsoft.com/office/drawing/2014/main" id="{9E1C9844-3DBA-D01D-670D-20FF7247F51D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52">
            <a:extLst>
              <a:ext uri="{FF2B5EF4-FFF2-40B4-BE49-F238E27FC236}">
                <a16:creationId xmlns:a16="http://schemas.microsoft.com/office/drawing/2014/main" id="{08BC197D-6A90-DDE3-B420-6E447273CA0C}"/>
              </a:ext>
            </a:extLst>
          </p:cNvPr>
          <p:cNvSpPr txBox="1"/>
          <p:nvPr/>
        </p:nvSpPr>
        <p:spPr>
          <a:xfrm>
            <a:off x="5528983" y="2146300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13" name="TextBox 22">
            <a:extLst>
              <a:ext uri="{FF2B5EF4-FFF2-40B4-BE49-F238E27FC236}">
                <a16:creationId xmlns:a16="http://schemas.microsoft.com/office/drawing/2014/main" id="{2FED2097-D40D-A422-EE39-0ABD21C2C5C2}"/>
              </a:ext>
            </a:extLst>
          </p:cNvPr>
          <p:cNvSpPr txBox="1"/>
          <p:nvPr/>
        </p:nvSpPr>
        <p:spPr>
          <a:xfrm>
            <a:off x="5180686" y="4228146"/>
            <a:ext cx="2178964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RIDGE-PCB-1307</a:t>
            </a:r>
          </a:p>
        </p:txBody>
      </p:sp>
      <p:sp>
        <p:nvSpPr>
          <p:cNvPr id="14" name="TextBox 34">
            <a:extLst>
              <a:ext uri="{FF2B5EF4-FFF2-40B4-BE49-F238E27FC236}">
                <a16:creationId xmlns:a16="http://schemas.microsoft.com/office/drawing/2014/main" id="{C477CAC4-78C7-583E-62D4-4A80C6A70F09}"/>
              </a:ext>
            </a:extLst>
          </p:cNvPr>
          <p:cNvSpPr txBox="1"/>
          <p:nvPr/>
        </p:nvSpPr>
        <p:spPr>
          <a:xfrm>
            <a:off x="5148041" y="4839868"/>
            <a:ext cx="1931769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</a:t>
            </a:r>
            <a:r>
              <a:rPr lang="en-IN" sz="1000" dirty="0" err="1">
                <a:latin typeface="Aptos" panose="020B0004020202020204" pitchFamily="34" charset="0"/>
              </a:rPr>
              <a:t>Higss</a:t>
            </a:r>
            <a:r>
              <a:rPr lang="en-IN" sz="1000" dirty="0">
                <a:latin typeface="Aptos" panose="020B0004020202020204" pitchFamily="34" charset="0"/>
              </a:rPr>
              <a:t> 3/9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865-867 </a:t>
            </a:r>
            <a:r>
              <a:rPr lang="en-US" sz="1000" dirty="0" err="1">
                <a:latin typeface="Aptos" panose="020B0004020202020204" pitchFamily="34" charset="0"/>
              </a:rPr>
              <a:t>Mhz</a:t>
            </a:r>
            <a:endParaRPr lang="en-US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 </a:t>
            </a:r>
            <a:r>
              <a:rPr lang="fr-FR" sz="1000" dirty="0">
                <a:latin typeface="Aptos" panose="020B0004020202020204" pitchFamily="34" charset="0"/>
              </a:rPr>
              <a:t>Dimensions: 13X07X03 MM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 err="1">
                <a:latin typeface="Aptos" panose="020B0004020202020204" pitchFamily="34" charset="0"/>
              </a:rPr>
              <a:t>Personalization</a:t>
            </a:r>
            <a:r>
              <a:rPr lang="fr-FR" sz="1000" dirty="0">
                <a:latin typeface="Aptos" panose="020B0004020202020204" pitchFamily="34" charset="0"/>
              </a:rPr>
              <a:t> : Yes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Out body : Plastic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Stick </a:t>
            </a:r>
            <a:r>
              <a:rPr lang="en-US" sz="1000" dirty="0" err="1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oon</a:t>
            </a: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 metal surface, metal assets, tool tracking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15" name="Group 49">
            <a:extLst>
              <a:ext uri="{FF2B5EF4-FFF2-40B4-BE49-F238E27FC236}">
                <a16:creationId xmlns:a16="http://schemas.microsoft.com/office/drawing/2014/main" id="{73B72879-D3A9-01CA-8163-C5ECED638FFE}"/>
              </a:ext>
            </a:extLst>
          </p:cNvPr>
          <p:cNvGrpSpPr/>
          <p:nvPr/>
        </p:nvGrpSpPr>
        <p:grpSpPr>
          <a:xfrm>
            <a:off x="5528983" y="4494923"/>
            <a:ext cx="1068900" cy="209032"/>
            <a:chOff x="0" y="0"/>
            <a:chExt cx="185707" cy="65033"/>
          </a:xfrm>
        </p:grpSpPr>
        <p:sp>
          <p:nvSpPr>
            <p:cNvPr id="16" name="Freeform 50">
              <a:extLst>
                <a:ext uri="{FF2B5EF4-FFF2-40B4-BE49-F238E27FC236}">
                  <a16:creationId xmlns:a16="http://schemas.microsoft.com/office/drawing/2014/main" id="{2337550B-E610-88EB-AC94-132CAF80258F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" name="TextBox 51">
              <a:extLst>
                <a:ext uri="{FF2B5EF4-FFF2-40B4-BE49-F238E27FC236}">
                  <a16:creationId xmlns:a16="http://schemas.microsoft.com/office/drawing/2014/main" id="{197CF064-5A72-AA39-B961-158FD3917276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TextBox 52">
            <a:extLst>
              <a:ext uri="{FF2B5EF4-FFF2-40B4-BE49-F238E27FC236}">
                <a16:creationId xmlns:a16="http://schemas.microsoft.com/office/drawing/2014/main" id="{C8CFCE36-F0A3-E203-BCE4-C14D08897069}"/>
              </a:ext>
            </a:extLst>
          </p:cNvPr>
          <p:cNvSpPr txBox="1"/>
          <p:nvPr/>
        </p:nvSpPr>
        <p:spPr>
          <a:xfrm>
            <a:off x="5636019" y="4535628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1D60584F-E283-DAD8-1541-8796ADC8F622}"/>
              </a:ext>
            </a:extLst>
          </p:cNvPr>
          <p:cNvSpPr txBox="1"/>
          <p:nvPr/>
        </p:nvSpPr>
        <p:spPr>
          <a:xfrm>
            <a:off x="5198165" y="6611424"/>
            <a:ext cx="2085285" cy="20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400" b="1" spc="85" dirty="0">
                <a:solidFill>
                  <a:srgbClr val="000000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Aether RIDGE-PCB-7005</a:t>
            </a:r>
          </a:p>
        </p:txBody>
      </p:sp>
      <p:sp>
        <p:nvSpPr>
          <p:cNvPr id="20" name="TextBox 34">
            <a:extLst>
              <a:ext uri="{FF2B5EF4-FFF2-40B4-BE49-F238E27FC236}">
                <a16:creationId xmlns:a16="http://schemas.microsoft.com/office/drawing/2014/main" id="{46DADEF1-472C-C79E-C8E4-7AAF477AE512}"/>
              </a:ext>
            </a:extLst>
          </p:cNvPr>
          <p:cNvSpPr txBox="1"/>
          <p:nvPr/>
        </p:nvSpPr>
        <p:spPr>
          <a:xfrm>
            <a:off x="5148041" y="7223146"/>
            <a:ext cx="1931769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IN" sz="1000" dirty="0">
                <a:latin typeface="Aptos" panose="020B0004020202020204" pitchFamily="34" charset="0"/>
              </a:rPr>
              <a:t>Chip: M730</a:t>
            </a: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Frequency Band: UHF 865-867 </a:t>
            </a:r>
            <a:r>
              <a:rPr lang="en-US" sz="1000" dirty="0" err="1">
                <a:latin typeface="Aptos" panose="020B0004020202020204" pitchFamily="34" charset="0"/>
              </a:rPr>
              <a:t>Mhz</a:t>
            </a:r>
            <a:endParaRPr lang="en-US" sz="1000" dirty="0">
              <a:latin typeface="Aptos" panose="020B0004020202020204" pitchFamily="34" charset="0"/>
            </a:endParaRPr>
          </a:p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latin typeface="Aptos" panose="020B0004020202020204" pitchFamily="34" charset="0"/>
              </a:rPr>
              <a:t> </a:t>
            </a:r>
            <a:r>
              <a:rPr lang="fr-FR" sz="1000" dirty="0">
                <a:latin typeface="Aptos" panose="020B0004020202020204" pitchFamily="34" charset="0"/>
              </a:rPr>
              <a:t>Dimensions: 70X05X01 MM 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fr-FR" sz="1000" dirty="0" err="1">
                <a:latin typeface="Aptos" panose="020B0004020202020204" pitchFamily="34" charset="0"/>
              </a:rPr>
              <a:t>Personalization</a:t>
            </a:r>
            <a:r>
              <a:rPr lang="fr-FR" sz="1000" dirty="0">
                <a:latin typeface="Aptos" panose="020B0004020202020204" pitchFamily="34" charset="0"/>
              </a:rPr>
              <a:t> : Yes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Out body : Plastic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Application : Stick </a:t>
            </a:r>
            <a:r>
              <a:rPr lang="en-US" sz="1000" dirty="0" err="1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oon</a:t>
            </a:r>
            <a:r>
              <a:rPr lang="en-US" sz="1000" dirty="0">
                <a:solidFill>
                  <a:srgbClr val="000000"/>
                </a:solidFill>
                <a:latin typeface="Aptos" panose="020B0004020202020204" pitchFamily="34" charset="0"/>
                <a:ea typeface="Akzidenz-Grotesk"/>
                <a:cs typeface="Akzidenz-Grotesk"/>
                <a:sym typeface="Akzidenz-Grotesk"/>
              </a:rPr>
              <a:t> metal surface, metal assets, tool tracking</a:t>
            </a:r>
          </a:p>
          <a:p>
            <a:pPr lvl="0" algn="ctr">
              <a:lnSpc>
                <a:spcPts val="1259"/>
              </a:lnSpc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Aptos" panose="020B0004020202020204" pitchFamily="34" charset="0"/>
              <a:ea typeface="Akzidenz-Grotesk"/>
              <a:cs typeface="Akzidenz-Grotesk"/>
              <a:sym typeface="Akzidenz-Grotesk"/>
            </a:endParaRPr>
          </a:p>
        </p:txBody>
      </p:sp>
      <p:grpSp>
        <p:nvGrpSpPr>
          <p:cNvPr id="21" name="Group 49">
            <a:extLst>
              <a:ext uri="{FF2B5EF4-FFF2-40B4-BE49-F238E27FC236}">
                <a16:creationId xmlns:a16="http://schemas.microsoft.com/office/drawing/2014/main" id="{92E20802-24E2-5BDD-AE63-305B9CB71132}"/>
              </a:ext>
            </a:extLst>
          </p:cNvPr>
          <p:cNvGrpSpPr/>
          <p:nvPr/>
        </p:nvGrpSpPr>
        <p:grpSpPr>
          <a:xfrm>
            <a:off x="5528983" y="6878201"/>
            <a:ext cx="1068900" cy="209032"/>
            <a:chOff x="0" y="0"/>
            <a:chExt cx="185707" cy="65033"/>
          </a:xfrm>
        </p:grpSpPr>
        <p:sp>
          <p:nvSpPr>
            <p:cNvPr id="22" name="Freeform 50">
              <a:extLst>
                <a:ext uri="{FF2B5EF4-FFF2-40B4-BE49-F238E27FC236}">
                  <a16:creationId xmlns:a16="http://schemas.microsoft.com/office/drawing/2014/main" id="{AAD26E12-7C16-8DA0-DC16-313FDA6BF019}"/>
                </a:ext>
              </a:extLst>
            </p:cNvPr>
            <p:cNvSpPr/>
            <p:nvPr/>
          </p:nvSpPr>
          <p:spPr>
            <a:xfrm>
              <a:off x="0" y="0"/>
              <a:ext cx="185707" cy="65033"/>
            </a:xfrm>
            <a:custGeom>
              <a:avLst/>
              <a:gdLst/>
              <a:ahLst/>
              <a:cxnLst/>
              <a:rect l="l" t="t" r="r" b="b"/>
              <a:pathLst>
                <a:path w="185707" h="65033">
                  <a:moveTo>
                    <a:pt x="32517" y="0"/>
                  </a:moveTo>
                  <a:lnTo>
                    <a:pt x="153190" y="0"/>
                  </a:lnTo>
                  <a:cubicBezTo>
                    <a:pt x="161814" y="0"/>
                    <a:pt x="170085" y="3426"/>
                    <a:pt x="176183" y="9524"/>
                  </a:cubicBezTo>
                  <a:cubicBezTo>
                    <a:pt x="182281" y="15622"/>
                    <a:pt x="185707" y="23893"/>
                    <a:pt x="185707" y="32517"/>
                  </a:cubicBezTo>
                  <a:lnTo>
                    <a:pt x="185707" y="32517"/>
                  </a:lnTo>
                  <a:cubicBezTo>
                    <a:pt x="185707" y="41140"/>
                    <a:pt x="182281" y="49411"/>
                    <a:pt x="176183" y="55509"/>
                  </a:cubicBezTo>
                  <a:cubicBezTo>
                    <a:pt x="170085" y="61607"/>
                    <a:pt x="161814" y="65033"/>
                    <a:pt x="153190" y="65033"/>
                  </a:cubicBezTo>
                  <a:lnTo>
                    <a:pt x="32517" y="65033"/>
                  </a:lnTo>
                  <a:cubicBezTo>
                    <a:pt x="23893" y="65033"/>
                    <a:pt x="15622" y="61607"/>
                    <a:pt x="9524" y="55509"/>
                  </a:cubicBezTo>
                  <a:cubicBezTo>
                    <a:pt x="3426" y="49411"/>
                    <a:pt x="0" y="41140"/>
                    <a:pt x="0" y="32517"/>
                  </a:cubicBezTo>
                  <a:lnTo>
                    <a:pt x="0" y="32517"/>
                  </a:lnTo>
                  <a:cubicBezTo>
                    <a:pt x="0" y="23893"/>
                    <a:pt x="3426" y="15622"/>
                    <a:pt x="9524" y="9524"/>
                  </a:cubicBezTo>
                  <a:cubicBezTo>
                    <a:pt x="15622" y="3426"/>
                    <a:pt x="23893" y="0"/>
                    <a:pt x="32517" y="0"/>
                  </a:cubicBezTo>
                  <a:close/>
                </a:path>
              </a:pathLst>
            </a:custGeom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3" name="TextBox 51">
              <a:extLst>
                <a:ext uri="{FF2B5EF4-FFF2-40B4-BE49-F238E27FC236}">
                  <a16:creationId xmlns:a16="http://schemas.microsoft.com/office/drawing/2014/main" id="{751AA9C0-2BF0-B0A4-575B-63419105A139}"/>
                </a:ext>
              </a:extLst>
            </p:cNvPr>
            <p:cNvSpPr txBox="1"/>
            <p:nvPr/>
          </p:nvSpPr>
          <p:spPr>
            <a:xfrm>
              <a:off x="0" y="-57150"/>
              <a:ext cx="185707" cy="122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4" name="TextBox 52">
            <a:extLst>
              <a:ext uri="{FF2B5EF4-FFF2-40B4-BE49-F238E27FC236}">
                <a16:creationId xmlns:a16="http://schemas.microsoft.com/office/drawing/2014/main" id="{8FE04174-9DD0-3176-2802-3E3732E17972}"/>
              </a:ext>
            </a:extLst>
          </p:cNvPr>
          <p:cNvSpPr txBox="1"/>
          <p:nvPr/>
        </p:nvSpPr>
        <p:spPr>
          <a:xfrm>
            <a:off x="5636019" y="6918906"/>
            <a:ext cx="901097" cy="133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 b="1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Key Specifications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9CA91B8-8999-62ED-5C9A-01785A124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418545">
            <a:off x="1177558" y="118348"/>
            <a:ext cx="2268015" cy="50419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1C08DDF-E93F-D0F4-855C-4D26A8288C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49602" y="2930157"/>
            <a:ext cx="1931770" cy="429447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E635169-AEC0-1F33-7043-FAEBD62C4D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35" y="6482701"/>
            <a:ext cx="2785012" cy="2975143"/>
          </a:xfrm>
          <a:prstGeom prst="rect">
            <a:avLst/>
          </a:prstGeom>
        </p:spPr>
      </p:pic>
      <p:sp>
        <p:nvSpPr>
          <p:cNvPr id="12" name="TextBox 42">
            <a:extLst>
              <a:ext uri="{FF2B5EF4-FFF2-40B4-BE49-F238E27FC236}">
                <a16:creationId xmlns:a16="http://schemas.microsoft.com/office/drawing/2014/main" id="{AACA8C6F-8C61-6F08-CE70-8D05815B5751}"/>
              </a:ext>
            </a:extLst>
          </p:cNvPr>
          <p:cNvSpPr txBox="1"/>
          <p:nvPr/>
        </p:nvSpPr>
        <p:spPr>
          <a:xfrm>
            <a:off x="450610" y="10287345"/>
            <a:ext cx="2561020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00"/>
              </a:lnSpc>
            </a:pPr>
            <a:r>
              <a:rPr lang="en-US" sz="1000" spc="5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www.aetherrfid.com</a:t>
            </a:r>
          </a:p>
        </p:txBody>
      </p:sp>
      <p:sp>
        <p:nvSpPr>
          <p:cNvPr id="25" name="TextBox 43">
            <a:extLst>
              <a:ext uri="{FF2B5EF4-FFF2-40B4-BE49-F238E27FC236}">
                <a16:creationId xmlns:a16="http://schemas.microsoft.com/office/drawing/2014/main" id="{BD4353D6-A1E6-2EB3-F9A0-6DFC089C8EA5}"/>
              </a:ext>
            </a:extLst>
          </p:cNvPr>
          <p:cNvSpPr txBox="1"/>
          <p:nvPr/>
        </p:nvSpPr>
        <p:spPr>
          <a:xfrm>
            <a:off x="450610" y="10095419"/>
            <a:ext cx="2496524" cy="16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40"/>
              </a:lnSpc>
            </a:pPr>
            <a:r>
              <a:rPr lang="en-US" sz="1000" spc="27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7042436155</a:t>
            </a:r>
          </a:p>
        </p:txBody>
      </p:sp>
      <p:sp>
        <p:nvSpPr>
          <p:cNvPr id="26" name="AutoShape 44">
            <a:extLst>
              <a:ext uri="{FF2B5EF4-FFF2-40B4-BE49-F238E27FC236}">
                <a16:creationId xmlns:a16="http://schemas.microsoft.com/office/drawing/2014/main" id="{EFA75DE8-F093-B715-E34F-2E254B8395BA}"/>
              </a:ext>
            </a:extLst>
          </p:cNvPr>
          <p:cNvSpPr/>
          <p:nvPr/>
        </p:nvSpPr>
        <p:spPr>
          <a:xfrm>
            <a:off x="2462130" y="10412757"/>
            <a:ext cx="4859144" cy="2838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858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1235</Words>
  <Application>Microsoft Office PowerPoint</Application>
  <PresentationFormat>Custom</PresentationFormat>
  <Paragraphs>253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Akzidenz-Grotesk</vt:lpstr>
      <vt:lpstr>Arial</vt:lpstr>
      <vt:lpstr>Calibri</vt:lpstr>
      <vt:lpstr>Alegreya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Neutral Luxury Elegant Lighting Product Catalogue A4 Document</dc:title>
  <cp:lastModifiedBy>Meena Singh</cp:lastModifiedBy>
  <cp:revision>76</cp:revision>
  <dcterms:created xsi:type="dcterms:W3CDTF">2006-08-16T00:00:00Z</dcterms:created>
  <dcterms:modified xsi:type="dcterms:W3CDTF">2026-04-04T09:44:44Z</dcterms:modified>
  <dc:identifier>DAHAXKZNxmg</dc:identifier>
</cp:coreProperties>
</file>