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6858000" cy="9144000"/>
  <p:embeddedFontLst>
    <p:embeddedFont>
      <p:font typeface="Akzidenz-Grotesk" panose="020B0604020202020204" charset="0"/>
      <p:regular r:id="rId6"/>
    </p:embeddedFont>
    <p:embeddedFont>
      <p:font typeface="Alegreya Sans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90" autoAdjust="0"/>
    <p:restoredTop sz="94622" autoAdjust="0"/>
  </p:normalViewPr>
  <p:slideViewPr>
    <p:cSldViewPr>
      <p:cViewPr varScale="1">
        <p:scale>
          <a:sx n="58" d="100"/>
          <a:sy n="58" d="100"/>
        </p:scale>
        <p:origin x="206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5199792" y="1367350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C72-READER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40250" y="1990124"/>
            <a:ext cx="2675072" cy="1660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C72 Hand Held Reader 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Polarisation  :  </a:t>
            </a:r>
            <a:r>
              <a:rPr lang="fr-FR" sz="1000" dirty="0" err="1">
                <a:latin typeface="Aptos" panose="020B0004020202020204" pitchFamily="34" charset="0"/>
              </a:rPr>
              <a:t>Circular</a:t>
            </a:r>
            <a:endParaRPr lang="fr-FR" sz="1000" dirty="0">
              <a:latin typeface="Aptos" panose="020B0004020202020204" pitchFamily="34" charset="0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10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1100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Inventory management, Retail, WMS and more.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: UHF RFID, NFC, 1D/2D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MOQ : 1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52000/-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44658" y="10229585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4658" y="10037659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44" name="AutoShape 44"/>
          <p:cNvSpPr/>
          <p:nvPr/>
        </p:nvSpPr>
        <p:spPr>
          <a:xfrm>
            <a:off x="2356178" y="10354997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5" name="Group 45"/>
          <p:cNvGrpSpPr/>
          <p:nvPr/>
        </p:nvGrpSpPr>
        <p:grpSpPr>
          <a:xfrm>
            <a:off x="344658" y="247581"/>
            <a:ext cx="7014992" cy="583311"/>
            <a:chOff x="0" y="0"/>
            <a:chExt cx="1128171" cy="17419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0" y="332382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 err="1">
                <a:solidFill>
                  <a:srgbClr val="000000"/>
                </a:solidFill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RFIDHandheld</a:t>
            </a:r>
            <a:r>
              <a:rPr lang="en-US" sz="1400" b="1" spc="553" dirty="0">
                <a:solidFill>
                  <a:srgbClr val="000000"/>
                </a:solidFill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 Readers 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225993" y="1650549"/>
            <a:ext cx="1112469" cy="253688"/>
            <a:chOff x="0" y="0"/>
            <a:chExt cx="185707" cy="6503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403580" y="1696664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609F5A-BBE5-13B2-A5E7-7A6B15C33D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68" y="1785213"/>
            <a:ext cx="1825426" cy="1829269"/>
          </a:xfrm>
          <a:prstGeom prst="rect">
            <a:avLst/>
          </a:prstGeom>
        </p:spPr>
      </p:pic>
      <p:sp>
        <p:nvSpPr>
          <p:cNvPr id="6" name="TextBox 18">
            <a:extLst>
              <a:ext uri="{FF2B5EF4-FFF2-40B4-BE49-F238E27FC236}">
                <a16:creationId xmlns:a16="http://schemas.microsoft.com/office/drawing/2014/main" id="{D4D17C8C-D14A-D247-0800-E1B2DB6306A9}"/>
              </a:ext>
            </a:extLst>
          </p:cNvPr>
          <p:cNvSpPr txBox="1"/>
          <p:nvPr/>
        </p:nvSpPr>
        <p:spPr>
          <a:xfrm>
            <a:off x="5377379" y="4362089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C5-READER</a:t>
            </a:r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0B62BB81-C8E3-723F-04CA-119EE5180AB5}"/>
              </a:ext>
            </a:extLst>
          </p:cNvPr>
          <p:cNvSpPr txBox="1"/>
          <p:nvPr/>
        </p:nvSpPr>
        <p:spPr>
          <a:xfrm>
            <a:off x="4616450" y="4984863"/>
            <a:ext cx="2591965" cy="182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C5 Hand Held Reader 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Polarisation  :  </a:t>
            </a:r>
            <a:r>
              <a:rPr lang="fr-FR" sz="1000" dirty="0" err="1">
                <a:latin typeface="Aptos" panose="020B0004020202020204" pitchFamily="34" charset="0"/>
              </a:rPr>
              <a:t>Circular</a:t>
            </a:r>
            <a:endParaRPr lang="fr-FR" sz="1000" dirty="0">
              <a:latin typeface="Aptos" panose="020B0004020202020204" pitchFamily="34" charset="0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10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1100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Item level traceability, Inventory management, Retail, WMS ..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: Gen2X Compliant, UHF RFID, NFC, 1D/2D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MOQ : 1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47000/-</a:t>
            </a:r>
          </a:p>
        </p:txBody>
      </p:sp>
      <p:grpSp>
        <p:nvGrpSpPr>
          <p:cNvPr id="14" name="Group 49">
            <a:extLst>
              <a:ext uri="{FF2B5EF4-FFF2-40B4-BE49-F238E27FC236}">
                <a16:creationId xmlns:a16="http://schemas.microsoft.com/office/drawing/2014/main" id="{63FDE39A-4260-502A-80FE-6280A5615567}"/>
              </a:ext>
            </a:extLst>
          </p:cNvPr>
          <p:cNvGrpSpPr/>
          <p:nvPr/>
        </p:nvGrpSpPr>
        <p:grpSpPr>
          <a:xfrm>
            <a:off x="5403580" y="4645288"/>
            <a:ext cx="1112469" cy="253688"/>
            <a:chOff x="0" y="0"/>
            <a:chExt cx="185707" cy="65033"/>
          </a:xfrm>
        </p:grpSpPr>
        <p:sp>
          <p:nvSpPr>
            <p:cNvPr id="15" name="Freeform 50">
              <a:extLst>
                <a:ext uri="{FF2B5EF4-FFF2-40B4-BE49-F238E27FC236}">
                  <a16:creationId xmlns:a16="http://schemas.microsoft.com/office/drawing/2014/main" id="{C2E31709-124D-D914-96E4-BBDE430BFA2A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51">
              <a:extLst>
                <a:ext uri="{FF2B5EF4-FFF2-40B4-BE49-F238E27FC236}">
                  <a16:creationId xmlns:a16="http://schemas.microsoft.com/office/drawing/2014/main" id="{B3DF99D8-1289-28A6-841B-ECA64231874E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7" name="TextBox 52">
            <a:extLst>
              <a:ext uri="{FF2B5EF4-FFF2-40B4-BE49-F238E27FC236}">
                <a16:creationId xmlns:a16="http://schemas.microsoft.com/office/drawing/2014/main" id="{3C5EAB95-6EF8-076E-E11F-E9B8C0A8CFB0}"/>
              </a:ext>
            </a:extLst>
          </p:cNvPr>
          <p:cNvSpPr txBox="1"/>
          <p:nvPr/>
        </p:nvSpPr>
        <p:spPr>
          <a:xfrm>
            <a:off x="5581167" y="4691403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F1D3F2-36F1-D74F-A5CF-8739AD7B41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1" y="4744743"/>
            <a:ext cx="1825426" cy="1788596"/>
          </a:xfrm>
          <a:prstGeom prst="rect">
            <a:avLst/>
          </a:prstGeom>
        </p:spPr>
      </p:pic>
      <p:sp>
        <p:nvSpPr>
          <p:cNvPr id="21" name="TextBox 18">
            <a:extLst>
              <a:ext uri="{FF2B5EF4-FFF2-40B4-BE49-F238E27FC236}">
                <a16:creationId xmlns:a16="http://schemas.microsoft.com/office/drawing/2014/main" id="{29CAA266-D4E6-6BA8-4BF0-DC3421BE0937}"/>
              </a:ext>
            </a:extLst>
          </p:cNvPr>
          <p:cNvSpPr txBox="1"/>
          <p:nvPr/>
        </p:nvSpPr>
        <p:spPr>
          <a:xfrm>
            <a:off x="5540807" y="7289982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R6-READER</a:t>
            </a:r>
          </a:p>
        </p:txBody>
      </p:sp>
      <p:sp>
        <p:nvSpPr>
          <p:cNvPr id="22" name="TextBox 34">
            <a:extLst>
              <a:ext uri="{FF2B5EF4-FFF2-40B4-BE49-F238E27FC236}">
                <a16:creationId xmlns:a16="http://schemas.microsoft.com/office/drawing/2014/main" id="{8EF0DFDE-F3EA-02ED-B05E-63370EE8FB79}"/>
              </a:ext>
            </a:extLst>
          </p:cNvPr>
          <p:cNvSpPr txBox="1"/>
          <p:nvPr/>
        </p:nvSpPr>
        <p:spPr>
          <a:xfrm>
            <a:off x="4779878" y="7912756"/>
            <a:ext cx="2591965" cy="182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R6 Hand Held Sled Reader 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Polarisation  :  </a:t>
            </a:r>
            <a:r>
              <a:rPr lang="fr-FR" sz="1000" dirty="0" err="1">
                <a:latin typeface="Aptos" panose="020B0004020202020204" pitchFamily="34" charset="0"/>
              </a:rPr>
              <a:t>Circular</a:t>
            </a:r>
            <a:endParaRPr lang="fr-FR" sz="1000" dirty="0">
              <a:latin typeface="Aptos" panose="020B0004020202020204" pitchFamily="34" charset="0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6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900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Item level traceability, Inventory management, Retail, WMS ..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: Gen2X Compliant, UHF RFID, NFC, 1D/2D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MOQ : 1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35000/-</a:t>
            </a:r>
          </a:p>
        </p:txBody>
      </p:sp>
      <p:grpSp>
        <p:nvGrpSpPr>
          <p:cNvPr id="23" name="Group 49">
            <a:extLst>
              <a:ext uri="{FF2B5EF4-FFF2-40B4-BE49-F238E27FC236}">
                <a16:creationId xmlns:a16="http://schemas.microsoft.com/office/drawing/2014/main" id="{95F1D0AB-167E-CCF7-4147-490D534D5E41}"/>
              </a:ext>
            </a:extLst>
          </p:cNvPr>
          <p:cNvGrpSpPr/>
          <p:nvPr/>
        </p:nvGrpSpPr>
        <p:grpSpPr>
          <a:xfrm>
            <a:off x="5567008" y="7573181"/>
            <a:ext cx="1112469" cy="253688"/>
            <a:chOff x="0" y="0"/>
            <a:chExt cx="185707" cy="65033"/>
          </a:xfrm>
        </p:grpSpPr>
        <p:sp>
          <p:nvSpPr>
            <p:cNvPr id="24" name="Freeform 50">
              <a:extLst>
                <a:ext uri="{FF2B5EF4-FFF2-40B4-BE49-F238E27FC236}">
                  <a16:creationId xmlns:a16="http://schemas.microsoft.com/office/drawing/2014/main" id="{735B756A-F73F-59E9-9D34-AB3B38EB73CC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TextBox 51">
              <a:extLst>
                <a:ext uri="{FF2B5EF4-FFF2-40B4-BE49-F238E27FC236}">
                  <a16:creationId xmlns:a16="http://schemas.microsoft.com/office/drawing/2014/main" id="{DA3D1093-1CB3-688B-46CE-EDC5CEADC2EB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6" name="TextBox 52">
            <a:extLst>
              <a:ext uri="{FF2B5EF4-FFF2-40B4-BE49-F238E27FC236}">
                <a16:creationId xmlns:a16="http://schemas.microsoft.com/office/drawing/2014/main" id="{1793E49D-EDEC-5A12-AF01-D24748C8228C}"/>
              </a:ext>
            </a:extLst>
          </p:cNvPr>
          <p:cNvSpPr txBox="1"/>
          <p:nvPr/>
        </p:nvSpPr>
        <p:spPr>
          <a:xfrm>
            <a:off x="5744595" y="7619296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ECC4664-5A56-D13D-6836-7F5D68DCC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22" y="7645820"/>
            <a:ext cx="1871255" cy="15326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A79410-4BAD-F72A-9212-AE3167B725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052" y="7645820"/>
            <a:ext cx="1801687" cy="154994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6DA667E-FF59-0ABD-ACCF-83CE257C7FC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561" y="4758216"/>
            <a:ext cx="1785177" cy="178859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108A45C-DB1C-CF24-8D24-43320692BA4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339" y="1785212"/>
            <a:ext cx="1871632" cy="1829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5">
            <a:extLst>
              <a:ext uri="{FF2B5EF4-FFF2-40B4-BE49-F238E27FC236}">
                <a16:creationId xmlns:a16="http://schemas.microsoft.com/office/drawing/2014/main" id="{CE98FA8F-28DD-53F1-944A-F3A210CDF496}"/>
              </a:ext>
            </a:extLst>
          </p:cNvPr>
          <p:cNvGrpSpPr/>
          <p:nvPr/>
        </p:nvGrpSpPr>
        <p:grpSpPr>
          <a:xfrm>
            <a:off x="344658" y="247581"/>
            <a:ext cx="7014992" cy="603319"/>
            <a:chOff x="0" y="0"/>
            <a:chExt cx="1128171" cy="174195"/>
          </a:xfrm>
        </p:grpSpPr>
        <p:sp>
          <p:nvSpPr>
            <p:cNvPr id="3" name="Freeform 46">
              <a:extLst>
                <a:ext uri="{FF2B5EF4-FFF2-40B4-BE49-F238E27FC236}">
                  <a16:creationId xmlns:a16="http://schemas.microsoft.com/office/drawing/2014/main" id="{89297EAA-F80D-C23B-5AAC-EECDB3A5CE46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7">
              <a:extLst>
                <a:ext uri="{FF2B5EF4-FFF2-40B4-BE49-F238E27FC236}">
                  <a16:creationId xmlns:a16="http://schemas.microsoft.com/office/drawing/2014/main" id="{08BCC08B-3ED6-8238-B00A-1170F8B52B01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48">
            <a:extLst>
              <a:ext uri="{FF2B5EF4-FFF2-40B4-BE49-F238E27FC236}">
                <a16:creationId xmlns:a16="http://schemas.microsoft.com/office/drawing/2014/main" id="{943DCCDB-62D4-F8D3-DE13-9FC01164AA13}"/>
              </a:ext>
            </a:extLst>
          </p:cNvPr>
          <p:cNvSpPr txBox="1"/>
          <p:nvPr/>
        </p:nvSpPr>
        <p:spPr>
          <a:xfrm>
            <a:off x="0" y="353131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Fixed/Desktop Readers 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DC76F825-AE76-F48F-17ED-148015DE2B11}"/>
              </a:ext>
            </a:extLst>
          </p:cNvPr>
          <p:cNvSpPr txBox="1"/>
          <p:nvPr/>
        </p:nvSpPr>
        <p:spPr>
          <a:xfrm>
            <a:off x="4914743" y="1244386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URA4 Fixed-READER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2F0EE825-DBBF-72E0-8C51-60213C759E05}"/>
              </a:ext>
            </a:extLst>
          </p:cNvPr>
          <p:cNvSpPr txBox="1"/>
          <p:nvPr/>
        </p:nvSpPr>
        <p:spPr>
          <a:xfrm>
            <a:off x="4540250" y="1886403"/>
            <a:ext cx="2675072" cy="182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URA4 Fixed  4 Port Reader 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Operating System  : Android 9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15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900+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Inventory management, Retail, WMS and more.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: </a:t>
            </a:r>
            <a:r>
              <a:rPr lang="en-IN" sz="1000" b="1" dirty="0">
                <a:latin typeface="Aptos" panose="020B0004020202020204" pitchFamily="34" charset="0"/>
              </a:rPr>
              <a:t>Impinj Module</a:t>
            </a:r>
            <a:r>
              <a:rPr lang="en-IN" sz="1000" dirty="0">
                <a:latin typeface="Aptos" panose="020B0004020202020204" pitchFamily="34" charset="0"/>
              </a:rPr>
              <a:t>, 4 Port Reader, Port Extension, Android Based, Direct Data Transfer</a:t>
            </a: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60000/-</a:t>
            </a:r>
          </a:p>
        </p:txBody>
      </p:sp>
      <p:grpSp>
        <p:nvGrpSpPr>
          <p:cNvPr id="8" name="Group 49">
            <a:extLst>
              <a:ext uri="{FF2B5EF4-FFF2-40B4-BE49-F238E27FC236}">
                <a16:creationId xmlns:a16="http://schemas.microsoft.com/office/drawing/2014/main" id="{57CFACDE-E09F-DD97-34D7-1FF624B5990A}"/>
              </a:ext>
            </a:extLst>
          </p:cNvPr>
          <p:cNvGrpSpPr/>
          <p:nvPr/>
        </p:nvGrpSpPr>
        <p:grpSpPr>
          <a:xfrm>
            <a:off x="5210769" y="1523840"/>
            <a:ext cx="1112469" cy="253688"/>
            <a:chOff x="0" y="0"/>
            <a:chExt cx="185707" cy="65033"/>
          </a:xfrm>
        </p:grpSpPr>
        <p:sp>
          <p:nvSpPr>
            <p:cNvPr id="9" name="Freeform 50">
              <a:extLst>
                <a:ext uri="{FF2B5EF4-FFF2-40B4-BE49-F238E27FC236}">
                  <a16:creationId xmlns:a16="http://schemas.microsoft.com/office/drawing/2014/main" id="{BD966B63-BF2F-B81E-DE28-023A0EF6F1D3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51">
              <a:extLst>
                <a:ext uri="{FF2B5EF4-FFF2-40B4-BE49-F238E27FC236}">
                  <a16:creationId xmlns:a16="http://schemas.microsoft.com/office/drawing/2014/main" id="{5B830BF8-BF04-E1E2-0C64-72884C13254A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52">
            <a:extLst>
              <a:ext uri="{FF2B5EF4-FFF2-40B4-BE49-F238E27FC236}">
                <a16:creationId xmlns:a16="http://schemas.microsoft.com/office/drawing/2014/main" id="{56DAED13-5F6A-4AE2-1C25-7962338FCB9D}"/>
              </a:ext>
            </a:extLst>
          </p:cNvPr>
          <p:cNvSpPr txBox="1"/>
          <p:nvPr/>
        </p:nvSpPr>
        <p:spPr>
          <a:xfrm>
            <a:off x="5388356" y="1569955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DCFF35-58C7-31E2-2685-2F3B025B0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9" y="1427612"/>
            <a:ext cx="4399568" cy="210652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1BD5CD-3CEA-16F7-1762-52F0D9D36ECC}"/>
              </a:ext>
            </a:extLst>
          </p:cNvPr>
          <p:cNvSpPr txBox="1"/>
          <p:nvPr/>
        </p:nvSpPr>
        <p:spPr>
          <a:xfrm>
            <a:off x="5149850" y="4404455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U300 Fixed-READER</a:t>
            </a:r>
          </a:p>
        </p:txBody>
      </p:sp>
      <p:sp>
        <p:nvSpPr>
          <p:cNvPr id="20" name="TextBox 34">
            <a:extLst>
              <a:ext uri="{FF2B5EF4-FFF2-40B4-BE49-F238E27FC236}">
                <a16:creationId xmlns:a16="http://schemas.microsoft.com/office/drawing/2014/main" id="{58245241-96A8-D933-C983-CBC44A2391E3}"/>
              </a:ext>
            </a:extLst>
          </p:cNvPr>
          <p:cNvSpPr txBox="1"/>
          <p:nvPr/>
        </p:nvSpPr>
        <p:spPr>
          <a:xfrm>
            <a:off x="4540250" y="5059400"/>
            <a:ext cx="2910179" cy="1660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U300 Fixed 4/8 Port Reader – Gen2X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Operating System  : Android 11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15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1300+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Inventory management, Retail, WMS and more.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</a:t>
            </a:r>
            <a:r>
              <a:rPr lang="en-IN" sz="1000" b="1" dirty="0">
                <a:latin typeface="Aptos" panose="020B0004020202020204" pitchFamily="34" charset="0"/>
              </a:rPr>
              <a:t>: Impinj Module</a:t>
            </a:r>
            <a:r>
              <a:rPr lang="en-IN" sz="1000" dirty="0">
                <a:latin typeface="Aptos" panose="020B0004020202020204" pitchFamily="34" charset="0"/>
              </a:rPr>
              <a:t>, 4 Port Reader, Port Extension, Android Based, Direct Data Transfer</a:t>
            </a: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68000/-</a:t>
            </a:r>
          </a:p>
        </p:txBody>
      </p:sp>
      <p:grpSp>
        <p:nvGrpSpPr>
          <p:cNvPr id="21" name="Group 49">
            <a:extLst>
              <a:ext uri="{FF2B5EF4-FFF2-40B4-BE49-F238E27FC236}">
                <a16:creationId xmlns:a16="http://schemas.microsoft.com/office/drawing/2014/main" id="{367D11C2-BC4E-2990-CFF5-171BCE64EEB6}"/>
              </a:ext>
            </a:extLst>
          </p:cNvPr>
          <p:cNvGrpSpPr/>
          <p:nvPr/>
        </p:nvGrpSpPr>
        <p:grpSpPr>
          <a:xfrm>
            <a:off x="5461100" y="4719825"/>
            <a:ext cx="1112469" cy="253688"/>
            <a:chOff x="0" y="0"/>
            <a:chExt cx="185707" cy="65033"/>
          </a:xfrm>
        </p:grpSpPr>
        <p:sp>
          <p:nvSpPr>
            <p:cNvPr id="22" name="Freeform 50">
              <a:extLst>
                <a:ext uri="{FF2B5EF4-FFF2-40B4-BE49-F238E27FC236}">
                  <a16:creationId xmlns:a16="http://schemas.microsoft.com/office/drawing/2014/main" id="{AF6027B9-5C81-FD1B-8EB7-BD64F6ACA3A9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TextBox 51">
              <a:extLst>
                <a:ext uri="{FF2B5EF4-FFF2-40B4-BE49-F238E27FC236}">
                  <a16:creationId xmlns:a16="http://schemas.microsoft.com/office/drawing/2014/main" id="{B6E83F87-4CA8-35A9-1D01-29EB10E0F60E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4" name="TextBox 52">
            <a:extLst>
              <a:ext uri="{FF2B5EF4-FFF2-40B4-BE49-F238E27FC236}">
                <a16:creationId xmlns:a16="http://schemas.microsoft.com/office/drawing/2014/main" id="{93803442-375E-17AA-0820-4B15916D98DE}"/>
              </a:ext>
            </a:extLst>
          </p:cNvPr>
          <p:cNvSpPr txBox="1"/>
          <p:nvPr/>
        </p:nvSpPr>
        <p:spPr>
          <a:xfrm>
            <a:off x="5638687" y="4765940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837AFA9-ECBD-86C8-86FE-26F494C34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21" y="4662908"/>
            <a:ext cx="4503311" cy="20295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31B5FBE-898E-7180-DC74-D5D757594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58" y="7544122"/>
            <a:ext cx="3661829" cy="227520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DEEE8E5-E3EE-696B-3039-93C7787C994F}"/>
              </a:ext>
            </a:extLst>
          </p:cNvPr>
          <p:cNvSpPr txBox="1"/>
          <p:nvPr/>
        </p:nvSpPr>
        <p:spPr>
          <a:xfrm>
            <a:off x="5077106" y="7417378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R3 Fixed-READER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45A350-651F-0513-1768-FE21FF96F6F3}"/>
              </a:ext>
            </a:extLst>
          </p:cNvPr>
          <p:cNvSpPr txBox="1"/>
          <p:nvPr/>
        </p:nvSpPr>
        <p:spPr>
          <a:xfrm>
            <a:off x="4702613" y="8072323"/>
            <a:ext cx="2675072" cy="182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 Desktop Reader – Gen2X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Operating System  : Android 11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15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1300+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Inventory management, Retail, WMS and more.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</a:t>
            </a:r>
            <a:r>
              <a:rPr lang="en-IN" sz="1000" b="1" dirty="0">
                <a:latin typeface="Aptos" panose="020B0004020202020204" pitchFamily="34" charset="0"/>
              </a:rPr>
              <a:t>: Impinj Module, </a:t>
            </a:r>
            <a:r>
              <a:rPr lang="en-IN" sz="1000" dirty="0">
                <a:latin typeface="Aptos" panose="020B0004020202020204" pitchFamily="34" charset="0"/>
              </a:rPr>
              <a:t>4 Port Reader, Port Extension, Android Based, Direct Data Transfer</a:t>
            </a: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35000/-</a:t>
            </a:r>
          </a:p>
        </p:txBody>
      </p:sp>
      <p:grpSp>
        <p:nvGrpSpPr>
          <p:cNvPr id="36" name="Group 49">
            <a:extLst>
              <a:ext uri="{FF2B5EF4-FFF2-40B4-BE49-F238E27FC236}">
                <a16:creationId xmlns:a16="http://schemas.microsoft.com/office/drawing/2014/main" id="{06902DE6-AB01-5042-3771-F21DF5B52314}"/>
              </a:ext>
            </a:extLst>
          </p:cNvPr>
          <p:cNvGrpSpPr/>
          <p:nvPr/>
        </p:nvGrpSpPr>
        <p:grpSpPr>
          <a:xfrm>
            <a:off x="5388356" y="7732748"/>
            <a:ext cx="1112469" cy="253688"/>
            <a:chOff x="0" y="0"/>
            <a:chExt cx="185707" cy="65033"/>
          </a:xfrm>
        </p:grpSpPr>
        <p:sp>
          <p:nvSpPr>
            <p:cNvPr id="37" name="Freeform 50">
              <a:extLst>
                <a:ext uri="{FF2B5EF4-FFF2-40B4-BE49-F238E27FC236}">
                  <a16:creationId xmlns:a16="http://schemas.microsoft.com/office/drawing/2014/main" id="{3C7570FB-6D26-E71D-3F1B-827CA46CD3C4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" name="TextBox 51">
              <a:extLst>
                <a:ext uri="{FF2B5EF4-FFF2-40B4-BE49-F238E27FC236}">
                  <a16:creationId xmlns:a16="http://schemas.microsoft.com/office/drawing/2014/main" id="{A0BA7C94-076D-DEF7-4FCC-147B580744DD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9" name="TextBox 52">
            <a:extLst>
              <a:ext uri="{FF2B5EF4-FFF2-40B4-BE49-F238E27FC236}">
                <a16:creationId xmlns:a16="http://schemas.microsoft.com/office/drawing/2014/main" id="{8C582157-3AC2-584F-9293-6C90974BC881}"/>
              </a:ext>
            </a:extLst>
          </p:cNvPr>
          <p:cNvSpPr txBox="1"/>
          <p:nvPr/>
        </p:nvSpPr>
        <p:spPr>
          <a:xfrm>
            <a:off x="5565943" y="7778863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40" name="TextBox 42">
            <a:extLst>
              <a:ext uri="{FF2B5EF4-FFF2-40B4-BE49-F238E27FC236}">
                <a16:creationId xmlns:a16="http://schemas.microsoft.com/office/drawing/2014/main" id="{2B694BE4-7FF0-7E8D-E956-44454A33579E}"/>
              </a:ext>
            </a:extLst>
          </p:cNvPr>
          <p:cNvSpPr txBox="1"/>
          <p:nvPr/>
        </p:nvSpPr>
        <p:spPr>
          <a:xfrm>
            <a:off x="344658" y="10332155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41" name="TextBox 43">
            <a:extLst>
              <a:ext uri="{FF2B5EF4-FFF2-40B4-BE49-F238E27FC236}">
                <a16:creationId xmlns:a16="http://schemas.microsoft.com/office/drawing/2014/main" id="{C3B74A3B-66AB-1D09-E0BA-9CD7797FD99A}"/>
              </a:ext>
            </a:extLst>
          </p:cNvPr>
          <p:cNvSpPr txBox="1"/>
          <p:nvPr/>
        </p:nvSpPr>
        <p:spPr>
          <a:xfrm>
            <a:off x="344658" y="10140229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42" name="AutoShape 44">
            <a:extLst>
              <a:ext uri="{FF2B5EF4-FFF2-40B4-BE49-F238E27FC236}">
                <a16:creationId xmlns:a16="http://schemas.microsoft.com/office/drawing/2014/main" id="{A840DCE2-B5D2-1098-99AD-3E6C3F5050C1}"/>
              </a:ext>
            </a:extLst>
          </p:cNvPr>
          <p:cNvSpPr/>
          <p:nvPr/>
        </p:nvSpPr>
        <p:spPr>
          <a:xfrm>
            <a:off x="2356178" y="10457567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497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8">
            <a:extLst>
              <a:ext uri="{FF2B5EF4-FFF2-40B4-BE49-F238E27FC236}">
                <a16:creationId xmlns:a16="http://schemas.microsoft.com/office/drawing/2014/main" id="{7E44E1B8-293D-CE1A-5C73-7429088D3CFD}"/>
              </a:ext>
            </a:extLst>
          </p:cNvPr>
          <p:cNvSpPr txBox="1"/>
          <p:nvPr/>
        </p:nvSpPr>
        <p:spPr>
          <a:xfrm>
            <a:off x="5199792" y="1367350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RFD40-READER</a:t>
            </a:r>
          </a:p>
        </p:txBody>
      </p:sp>
      <p:sp>
        <p:nvSpPr>
          <p:cNvPr id="3" name="TextBox 34">
            <a:extLst>
              <a:ext uri="{FF2B5EF4-FFF2-40B4-BE49-F238E27FC236}">
                <a16:creationId xmlns:a16="http://schemas.microsoft.com/office/drawing/2014/main" id="{3957A60F-16A0-27CE-6A18-E72596D860C6}"/>
              </a:ext>
            </a:extLst>
          </p:cNvPr>
          <p:cNvSpPr txBox="1"/>
          <p:nvPr/>
        </p:nvSpPr>
        <p:spPr>
          <a:xfrm>
            <a:off x="4540250" y="1990124"/>
            <a:ext cx="2675072" cy="1660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RFD40 Hand Held  Sled Reader 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Polarisation  :  </a:t>
            </a:r>
            <a:r>
              <a:rPr lang="fr-FR" sz="1000" dirty="0" err="1">
                <a:latin typeface="Aptos" panose="020B0004020202020204" pitchFamily="34" charset="0"/>
              </a:rPr>
              <a:t>Circular</a:t>
            </a:r>
            <a:endParaRPr lang="fr-FR" sz="1000" dirty="0">
              <a:latin typeface="Aptos" panose="020B0004020202020204" pitchFamily="34" charset="0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10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600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Inventory management, Retail, WMS and more.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: UHF RFID, NFC, 1D/2D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MOQ : 1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62000/-</a:t>
            </a:r>
          </a:p>
        </p:txBody>
      </p:sp>
      <p:sp>
        <p:nvSpPr>
          <p:cNvPr id="4" name="TextBox 42">
            <a:extLst>
              <a:ext uri="{FF2B5EF4-FFF2-40B4-BE49-F238E27FC236}">
                <a16:creationId xmlns:a16="http://schemas.microsoft.com/office/drawing/2014/main" id="{A6403E07-BB6C-485A-6368-ADF00F08B023}"/>
              </a:ext>
            </a:extLst>
          </p:cNvPr>
          <p:cNvSpPr txBox="1"/>
          <p:nvPr/>
        </p:nvSpPr>
        <p:spPr>
          <a:xfrm>
            <a:off x="344658" y="10229585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9697BEAD-5C95-C832-7A3A-E9B1D1D1EE8D}"/>
              </a:ext>
            </a:extLst>
          </p:cNvPr>
          <p:cNvSpPr txBox="1"/>
          <p:nvPr/>
        </p:nvSpPr>
        <p:spPr>
          <a:xfrm>
            <a:off x="344658" y="10037659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6" name="AutoShape 44">
            <a:extLst>
              <a:ext uri="{FF2B5EF4-FFF2-40B4-BE49-F238E27FC236}">
                <a16:creationId xmlns:a16="http://schemas.microsoft.com/office/drawing/2014/main" id="{37D8B016-FBE1-2C1C-CFD7-D737ABB9459D}"/>
              </a:ext>
            </a:extLst>
          </p:cNvPr>
          <p:cNvSpPr/>
          <p:nvPr/>
        </p:nvSpPr>
        <p:spPr>
          <a:xfrm>
            <a:off x="2356178" y="10354997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45">
            <a:extLst>
              <a:ext uri="{FF2B5EF4-FFF2-40B4-BE49-F238E27FC236}">
                <a16:creationId xmlns:a16="http://schemas.microsoft.com/office/drawing/2014/main" id="{E9328DFD-1F6B-7693-47E9-580272765731}"/>
              </a:ext>
            </a:extLst>
          </p:cNvPr>
          <p:cNvGrpSpPr/>
          <p:nvPr/>
        </p:nvGrpSpPr>
        <p:grpSpPr>
          <a:xfrm>
            <a:off x="344658" y="247581"/>
            <a:ext cx="7014992" cy="583311"/>
            <a:chOff x="0" y="0"/>
            <a:chExt cx="1128171" cy="174195"/>
          </a:xfrm>
        </p:grpSpPr>
        <p:sp>
          <p:nvSpPr>
            <p:cNvPr id="8" name="Freeform 46">
              <a:extLst>
                <a:ext uri="{FF2B5EF4-FFF2-40B4-BE49-F238E27FC236}">
                  <a16:creationId xmlns:a16="http://schemas.microsoft.com/office/drawing/2014/main" id="{D48621E7-D16D-CC0B-C552-75809EA435C8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47">
              <a:extLst>
                <a:ext uri="{FF2B5EF4-FFF2-40B4-BE49-F238E27FC236}">
                  <a16:creationId xmlns:a16="http://schemas.microsoft.com/office/drawing/2014/main" id="{56863351-FCA2-9FC3-8752-16D1D092369F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TextBox 48">
            <a:extLst>
              <a:ext uri="{FF2B5EF4-FFF2-40B4-BE49-F238E27FC236}">
                <a16:creationId xmlns:a16="http://schemas.microsoft.com/office/drawing/2014/main" id="{F7B3689C-4376-E40E-A53B-EEA7205BD8CB}"/>
              </a:ext>
            </a:extLst>
          </p:cNvPr>
          <p:cNvSpPr txBox="1"/>
          <p:nvPr/>
        </p:nvSpPr>
        <p:spPr>
          <a:xfrm>
            <a:off x="0" y="332382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 err="1">
                <a:solidFill>
                  <a:srgbClr val="000000"/>
                </a:solidFill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RFIDHandheld</a:t>
            </a:r>
            <a:r>
              <a:rPr lang="en-US" sz="1400" b="1" spc="553" dirty="0">
                <a:solidFill>
                  <a:srgbClr val="000000"/>
                </a:solidFill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 Readers </a:t>
            </a:r>
          </a:p>
        </p:txBody>
      </p:sp>
      <p:grpSp>
        <p:nvGrpSpPr>
          <p:cNvPr id="11" name="Group 49">
            <a:extLst>
              <a:ext uri="{FF2B5EF4-FFF2-40B4-BE49-F238E27FC236}">
                <a16:creationId xmlns:a16="http://schemas.microsoft.com/office/drawing/2014/main" id="{4712C2BA-F04A-03EF-2913-6B22DE30C809}"/>
              </a:ext>
            </a:extLst>
          </p:cNvPr>
          <p:cNvGrpSpPr/>
          <p:nvPr/>
        </p:nvGrpSpPr>
        <p:grpSpPr>
          <a:xfrm>
            <a:off x="5225993" y="1650549"/>
            <a:ext cx="1112469" cy="253688"/>
            <a:chOff x="0" y="0"/>
            <a:chExt cx="185707" cy="65033"/>
          </a:xfrm>
        </p:grpSpPr>
        <p:sp>
          <p:nvSpPr>
            <p:cNvPr id="12" name="Freeform 50">
              <a:extLst>
                <a:ext uri="{FF2B5EF4-FFF2-40B4-BE49-F238E27FC236}">
                  <a16:creationId xmlns:a16="http://schemas.microsoft.com/office/drawing/2014/main" id="{88031F43-C535-FC7E-7256-1F8B85BA9019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51">
              <a:extLst>
                <a:ext uri="{FF2B5EF4-FFF2-40B4-BE49-F238E27FC236}">
                  <a16:creationId xmlns:a16="http://schemas.microsoft.com/office/drawing/2014/main" id="{9EAA58B4-1FA6-D4AC-BFE8-F02091B4EE01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4" name="TextBox 52">
            <a:extLst>
              <a:ext uri="{FF2B5EF4-FFF2-40B4-BE49-F238E27FC236}">
                <a16:creationId xmlns:a16="http://schemas.microsoft.com/office/drawing/2014/main" id="{DE2EE2AB-4786-2588-0E19-97036B318112}"/>
              </a:ext>
            </a:extLst>
          </p:cNvPr>
          <p:cNvSpPr txBox="1"/>
          <p:nvPr/>
        </p:nvSpPr>
        <p:spPr>
          <a:xfrm>
            <a:off x="5403580" y="1696664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3A07DB00-50D2-256E-EAFF-93F98E40A31A}"/>
              </a:ext>
            </a:extLst>
          </p:cNvPr>
          <p:cNvSpPr txBox="1"/>
          <p:nvPr/>
        </p:nvSpPr>
        <p:spPr>
          <a:xfrm>
            <a:off x="5199104" y="4342607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MC3330XR-READER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B25CC1E3-02FC-4D2E-6E7A-563C94436C29}"/>
              </a:ext>
            </a:extLst>
          </p:cNvPr>
          <p:cNvSpPr txBox="1"/>
          <p:nvPr/>
        </p:nvSpPr>
        <p:spPr>
          <a:xfrm>
            <a:off x="4616450" y="4984863"/>
            <a:ext cx="2591965" cy="182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MC3330XR</a:t>
            </a:r>
            <a:r>
              <a:rPr lang="en-IN" sz="1000" b="1" dirty="0">
                <a:latin typeface="Aptos" panose="020B0004020202020204" pitchFamily="34" charset="0"/>
              </a:rPr>
              <a:t> Held Reader – With Android 14 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Polarisation  :  </a:t>
            </a:r>
            <a:r>
              <a:rPr lang="fr-FR" sz="1000" dirty="0" err="1">
                <a:latin typeface="Aptos" panose="020B0004020202020204" pitchFamily="34" charset="0"/>
              </a:rPr>
              <a:t>Circular</a:t>
            </a:r>
            <a:endParaRPr lang="fr-FR" sz="1000" dirty="0">
              <a:latin typeface="Aptos" panose="020B0004020202020204" pitchFamily="34" charset="0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8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900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Item level traceability, Inventory management, Retail, WMS ..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: UHF RFID,1D/2D, Screen with keypad high performance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MOQ : 1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137000/-</a:t>
            </a:r>
          </a:p>
        </p:txBody>
      </p:sp>
      <p:grpSp>
        <p:nvGrpSpPr>
          <p:cNvPr id="18" name="Group 49">
            <a:extLst>
              <a:ext uri="{FF2B5EF4-FFF2-40B4-BE49-F238E27FC236}">
                <a16:creationId xmlns:a16="http://schemas.microsoft.com/office/drawing/2014/main" id="{2B1B1995-B9C8-9E9D-D3B5-04AFC382B4D4}"/>
              </a:ext>
            </a:extLst>
          </p:cNvPr>
          <p:cNvGrpSpPr/>
          <p:nvPr/>
        </p:nvGrpSpPr>
        <p:grpSpPr>
          <a:xfrm>
            <a:off x="5403580" y="4645288"/>
            <a:ext cx="1112469" cy="253688"/>
            <a:chOff x="0" y="0"/>
            <a:chExt cx="185707" cy="65033"/>
          </a:xfrm>
        </p:grpSpPr>
        <p:sp>
          <p:nvSpPr>
            <p:cNvPr id="19" name="Freeform 50">
              <a:extLst>
                <a:ext uri="{FF2B5EF4-FFF2-40B4-BE49-F238E27FC236}">
                  <a16:creationId xmlns:a16="http://schemas.microsoft.com/office/drawing/2014/main" id="{D5FD1E98-E8F7-FE84-DD4B-9982AB6E5C6F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TextBox 51">
              <a:extLst>
                <a:ext uri="{FF2B5EF4-FFF2-40B4-BE49-F238E27FC236}">
                  <a16:creationId xmlns:a16="http://schemas.microsoft.com/office/drawing/2014/main" id="{7CF5FDFA-EED7-DE7E-1F49-D18C6582FED0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1" name="TextBox 52">
            <a:extLst>
              <a:ext uri="{FF2B5EF4-FFF2-40B4-BE49-F238E27FC236}">
                <a16:creationId xmlns:a16="http://schemas.microsoft.com/office/drawing/2014/main" id="{0704E9C7-BF30-10F7-6374-1CD5661C39C8}"/>
              </a:ext>
            </a:extLst>
          </p:cNvPr>
          <p:cNvSpPr txBox="1"/>
          <p:nvPr/>
        </p:nvSpPr>
        <p:spPr>
          <a:xfrm>
            <a:off x="5581167" y="4691403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DE5B9A2B-E14F-3314-B47F-1E9CF657D831}"/>
              </a:ext>
            </a:extLst>
          </p:cNvPr>
          <p:cNvSpPr txBox="1"/>
          <p:nvPr/>
        </p:nvSpPr>
        <p:spPr>
          <a:xfrm>
            <a:off x="5282330" y="7283392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FX9600-READER</a:t>
            </a:r>
          </a:p>
        </p:txBody>
      </p:sp>
      <p:sp>
        <p:nvSpPr>
          <p:cNvPr id="24" name="TextBox 34">
            <a:extLst>
              <a:ext uri="{FF2B5EF4-FFF2-40B4-BE49-F238E27FC236}">
                <a16:creationId xmlns:a16="http://schemas.microsoft.com/office/drawing/2014/main" id="{1830239A-475C-F207-499B-FF18C4BC6760}"/>
              </a:ext>
            </a:extLst>
          </p:cNvPr>
          <p:cNvSpPr txBox="1"/>
          <p:nvPr/>
        </p:nvSpPr>
        <p:spPr>
          <a:xfrm>
            <a:off x="3854450" y="7912756"/>
            <a:ext cx="3702050" cy="1332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                              FX9600 Fixed 4/8 port Reader </a:t>
            </a:r>
          </a:p>
          <a:p>
            <a:pPr algn="ctr"/>
            <a:r>
              <a:rPr lang="en-US" sz="1100" dirty="0"/>
              <a:t>Max Receiver Sensitivity:  -86 dBm monostatic</a:t>
            </a:r>
          </a:p>
          <a:p>
            <a:pPr algn="ctr"/>
            <a:r>
              <a:rPr lang="en-US" sz="1100" dirty="0"/>
              <a:t>Operating Temperature: -4°F to 131°F (-20°C to 55°C)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12 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1100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Item level traceability, Inventory management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MOQ : 1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75000/-</a:t>
            </a:r>
          </a:p>
        </p:txBody>
      </p:sp>
      <p:grpSp>
        <p:nvGrpSpPr>
          <p:cNvPr id="25" name="Group 49">
            <a:extLst>
              <a:ext uri="{FF2B5EF4-FFF2-40B4-BE49-F238E27FC236}">
                <a16:creationId xmlns:a16="http://schemas.microsoft.com/office/drawing/2014/main" id="{6BAC3789-9881-61C8-2AD5-B0856185B8DB}"/>
              </a:ext>
            </a:extLst>
          </p:cNvPr>
          <p:cNvGrpSpPr/>
          <p:nvPr/>
        </p:nvGrpSpPr>
        <p:grpSpPr>
          <a:xfrm>
            <a:off x="5403580" y="7573181"/>
            <a:ext cx="1112469" cy="253688"/>
            <a:chOff x="0" y="0"/>
            <a:chExt cx="185707" cy="65033"/>
          </a:xfrm>
        </p:grpSpPr>
        <p:sp>
          <p:nvSpPr>
            <p:cNvPr id="26" name="Freeform 50">
              <a:extLst>
                <a:ext uri="{FF2B5EF4-FFF2-40B4-BE49-F238E27FC236}">
                  <a16:creationId xmlns:a16="http://schemas.microsoft.com/office/drawing/2014/main" id="{0D1CF20C-0922-1A1B-D405-8134BC400481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TextBox 51">
              <a:extLst>
                <a:ext uri="{FF2B5EF4-FFF2-40B4-BE49-F238E27FC236}">
                  <a16:creationId xmlns:a16="http://schemas.microsoft.com/office/drawing/2014/main" id="{F70C82AF-FB95-BF6B-4128-07C978EA3EA8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8" name="TextBox 52">
            <a:extLst>
              <a:ext uri="{FF2B5EF4-FFF2-40B4-BE49-F238E27FC236}">
                <a16:creationId xmlns:a16="http://schemas.microsoft.com/office/drawing/2014/main" id="{51E9165F-AC8A-0B16-FE1A-C373D7C656ED}"/>
              </a:ext>
            </a:extLst>
          </p:cNvPr>
          <p:cNvSpPr txBox="1"/>
          <p:nvPr/>
        </p:nvSpPr>
        <p:spPr>
          <a:xfrm>
            <a:off x="5581167" y="7619296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84A6052-17B4-56D8-07DF-E350916ED3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995" y="1830290"/>
            <a:ext cx="2388954" cy="15926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80F8CF1-011E-EA90-279E-D2AC19BBA3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03269" y="1565252"/>
            <a:ext cx="2603303" cy="190752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3A919F8-2F71-92F4-5B71-6159B4D715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1" y="4788355"/>
            <a:ext cx="1765324" cy="153266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475D517-2AE4-D6F4-5E52-7B277B75E0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843" y="4847479"/>
            <a:ext cx="2210317" cy="147354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1B0106-2657-6273-49E4-6161F2417E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9" y="7156367"/>
            <a:ext cx="3544931" cy="236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1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5">
            <a:extLst>
              <a:ext uri="{FF2B5EF4-FFF2-40B4-BE49-F238E27FC236}">
                <a16:creationId xmlns:a16="http://schemas.microsoft.com/office/drawing/2014/main" id="{7D336E4F-6FF0-6D19-0782-C59FCBFAD619}"/>
              </a:ext>
            </a:extLst>
          </p:cNvPr>
          <p:cNvGrpSpPr/>
          <p:nvPr/>
        </p:nvGrpSpPr>
        <p:grpSpPr>
          <a:xfrm>
            <a:off x="344658" y="247581"/>
            <a:ext cx="7014992" cy="603319"/>
            <a:chOff x="0" y="0"/>
            <a:chExt cx="1128171" cy="174195"/>
          </a:xfrm>
        </p:grpSpPr>
        <p:sp>
          <p:nvSpPr>
            <p:cNvPr id="3" name="Freeform 46">
              <a:extLst>
                <a:ext uri="{FF2B5EF4-FFF2-40B4-BE49-F238E27FC236}">
                  <a16:creationId xmlns:a16="http://schemas.microsoft.com/office/drawing/2014/main" id="{E122EC59-E3C5-8562-DE33-C2B7148384D3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7">
              <a:extLst>
                <a:ext uri="{FF2B5EF4-FFF2-40B4-BE49-F238E27FC236}">
                  <a16:creationId xmlns:a16="http://schemas.microsoft.com/office/drawing/2014/main" id="{6AAD2344-D8FA-4C3F-F34F-F1BA9D9FAF47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48">
            <a:extLst>
              <a:ext uri="{FF2B5EF4-FFF2-40B4-BE49-F238E27FC236}">
                <a16:creationId xmlns:a16="http://schemas.microsoft.com/office/drawing/2014/main" id="{FE48410E-5A8C-714C-A0FC-76B93F661EB5}"/>
              </a:ext>
            </a:extLst>
          </p:cNvPr>
          <p:cNvSpPr txBox="1"/>
          <p:nvPr/>
        </p:nvSpPr>
        <p:spPr>
          <a:xfrm>
            <a:off x="0" y="353131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Fixed/Desktop Readers 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C8191D50-FA96-0BA9-A610-76274DD5BD78}"/>
              </a:ext>
            </a:extLst>
          </p:cNvPr>
          <p:cNvSpPr txBox="1"/>
          <p:nvPr/>
        </p:nvSpPr>
        <p:spPr>
          <a:xfrm>
            <a:off x="4914743" y="1244386"/>
            <a:ext cx="1926085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UHF READER Antenna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0D3CE6B3-1D25-371C-2020-0D3499A7483B}"/>
              </a:ext>
            </a:extLst>
          </p:cNvPr>
          <p:cNvSpPr txBox="1"/>
          <p:nvPr/>
        </p:nvSpPr>
        <p:spPr>
          <a:xfrm>
            <a:off x="4540250" y="1886403"/>
            <a:ext cx="2675072" cy="1494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Aether Long Range 9 </a:t>
            </a:r>
            <a:r>
              <a:rPr lang="en-IN" sz="1000" b="1" dirty="0" err="1">
                <a:latin typeface="Aptos" panose="020B0004020202020204" pitchFamily="34" charset="0"/>
              </a:rPr>
              <a:t>dBi</a:t>
            </a:r>
            <a:r>
              <a:rPr lang="en-IN" sz="1000" b="1" dirty="0">
                <a:latin typeface="Aptos" panose="020B0004020202020204" pitchFamily="34" charset="0"/>
              </a:rPr>
              <a:t> Antenna 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Polarization</a:t>
            </a:r>
            <a:r>
              <a:rPr lang="fr-FR" sz="1000" dirty="0">
                <a:latin typeface="Aptos" panose="020B0004020202020204" pitchFamily="34" charset="0"/>
              </a:rPr>
              <a:t>  : </a:t>
            </a:r>
            <a:r>
              <a:rPr lang="fr-FR" sz="1000" dirty="0" err="1">
                <a:latin typeface="Aptos" panose="020B0004020202020204" pitchFamily="34" charset="0"/>
              </a:rPr>
              <a:t>Circular</a:t>
            </a:r>
            <a:r>
              <a:rPr lang="fr-FR" sz="1000" dirty="0">
                <a:latin typeface="Aptos" panose="020B0004020202020204" pitchFamily="34" charset="0"/>
              </a:rPr>
              <a:t> 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12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Application : Inventory management, Retail, WMS and more.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: </a:t>
            </a:r>
            <a:r>
              <a:rPr lang="en-IN" sz="1000" b="1" dirty="0">
                <a:latin typeface="Aptos" panose="020B0004020202020204" pitchFamily="34" charset="0"/>
              </a:rPr>
              <a:t>In-house designed</a:t>
            </a:r>
            <a:r>
              <a:rPr lang="en-IN" sz="1000" dirty="0">
                <a:latin typeface="Aptos" panose="020B0004020202020204" pitchFamily="34" charset="0"/>
              </a:rPr>
              <a:t>, ABS Body, Long range, High performance</a:t>
            </a: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6000/-</a:t>
            </a:r>
          </a:p>
        </p:txBody>
      </p:sp>
      <p:grpSp>
        <p:nvGrpSpPr>
          <p:cNvPr id="8" name="Group 49">
            <a:extLst>
              <a:ext uri="{FF2B5EF4-FFF2-40B4-BE49-F238E27FC236}">
                <a16:creationId xmlns:a16="http://schemas.microsoft.com/office/drawing/2014/main" id="{1204492E-9CE0-F21F-0014-A23768638845}"/>
              </a:ext>
            </a:extLst>
          </p:cNvPr>
          <p:cNvGrpSpPr/>
          <p:nvPr/>
        </p:nvGrpSpPr>
        <p:grpSpPr>
          <a:xfrm>
            <a:off x="5210769" y="1523840"/>
            <a:ext cx="1112469" cy="253688"/>
            <a:chOff x="0" y="0"/>
            <a:chExt cx="185707" cy="65033"/>
          </a:xfrm>
        </p:grpSpPr>
        <p:sp>
          <p:nvSpPr>
            <p:cNvPr id="9" name="Freeform 50">
              <a:extLst>
                <a:ext uri="{FF2B5EF4-FFF2-40B4-BE49-F238E27FC236}">
                  <a16:creationId xmlns:a16="http://schemas.microsoft.com/office/drawing/2014/main" id="{40819C50-78CB-17BF-83AF-F49D791DA8E1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51">
              <a:extLst>
                <a:ext uri="{FF2B5EF4-FFF2-40B4-BE49-F238E27FC236}">
                  <a16:creationId xmlns:a16="http://schemas.microsoft.com/office/drawing/2014/main" id="{65D1D7D8-79A0-405F-8D13-98DA8985A374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52">
            <a:extLst>
              <a:ext uri="{FF2B5EF4-FFF2-40B4-BE49-F238E27FC236}">
                <a16:creationId xmlns:a16="http://schemas.microsoft.com/office/drawing/2014/main" id="{415D3A43-B1EC-E166-06CE-4C72D5EBBA16}"/>
              </a:ext>
            </a:extLst>
          </p:cNvPr>
          <p:cNvSpPr txBox="1"/>
          <p:nvPr/>
        </p:nvSpPr>
        <p:spPr>
          <a:xfrm>
            <a:off x="5388356" y="1569955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AA5EAF-1369-E27A-54DD-4759162F8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78" y="937208"/>
            <a:ext cx="2928802" cy="3129611"/>
          </a:xfrm>
          <a:prstGeom prst="rect">
            <a:avLst/>
          </a:prstGeom>
        </p:spPr>
      </p:pic>
      <p:sp>
        <p:nvSpPr>
          <p:cNvPr id="15" name="TextBox 18">
            <a:extLst>
              <a:ext uri="{FF2B5EF4-FFF2-40B4-BE49-F238E27FC236}">
                <a16:creationId xmlns:a16="http://schemas.microsoft.com/office/drawing/2014/main" id="{66D45865-ACD6-FA13-09D5-FD0570EFBCC6}"/>
              </a:ext>
            </a:extLst>
          </p:cNvPr>
          <p:cNvSpPr txBox="1"/>
          <p:nvPr/>
        </p:nvSpPr>
        <p:spPr>
          <a:xfrm>
            <a:off x="4688614" y="3894277"/>
            <a:ext cx="2300579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UHF READER Antenna-AN480</a:t>
            </a:r>
          </a:p>
        </p:txBody>
      </p:sp>
      <p:sp>
        <p:nvSpPr>
          <p:cNvPr id="16" name="TextBox 34">
            <a:extLst>
              <a:ext uri="{FF2B5EF4-FFF2-40B4-BE49-F238E27FC236}">
                <a16:creationId xmlns:a16="http://schemas.microsoft.com/office/drawing/2014/main" id="{CA01C01F-07A0-A872-94C4-D057E3189C93}"/>
              </a:ext>
            </a:extLst>
          </p:cNvPr>
          <p:cNvSpPr txBox="1"/>
          <p:nvPr/>
        </p:nvSpPr>
        <p:spPr>
          <a:xfrm>
            <a:off x="4540250" y="4525036"/>
            <a:ext cx="2675072" cy="1494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Zebra Long Range 9 </a:t>
            </a:r>
            <a:r>
              <a:rPr lang="en-IN" sz="1000" b="1" dirty="0" err="1">
                <a:latin typeface="Aptos" panose="020B0004020202020204" pitchFamily="34" charset="0"/>
              </a:rPr>
              <a:t>dBi</a:t>
            </a:r>
            <a:r>
              <a:rPr lang="en-IN" sz="1000" b="1" dirty="0">
                <a:latin typeface="Aptos" panose="020B0004020202020204" pitchFamily="34" charset="0"/>
              </a:rPr>
              <a:t> Antenna 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Polarization</a:t>
            </a:r>
            <a:r>
              <a:rPr lang="fr-FR" sz="1000" dirty="0">
                <a:latin typeface="Aptos" panose="020B0004020202020204" pitchFamily="34" charset="0"/>
              </a:rPr>
              <a:t>  : </a:t>
            </a:r>
            <a:r>
              <a:rPr lang="fr-FR" sz="1000" dirty="0" err="1">
                <a:latin typeface="Aptos" panose="020B0004020202020204" pitchFamily="34" charset="0"/>
              </a:rPr>
              <a:t>Circular</a:t>
            </a:r>
            <a:r>
              <a:rPr lang="fr-FR" sz="1000" dirty="0">
                <a:latin typeface="Aptos" panose="020B0004020202020204" pitchFamily="34" charset="0"/>
              </a:rPr>
              <a:t> 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long range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12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Application : Inventory management, Retail, WMS and more.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Main Features : </a:t>
            </a:r>
            <a:r>
              <a:rPr lang="en-IN" sz="1000" b="1" dirty="0">
                <a:latin typeface="Aptos" panose="020B0004020202020204" pitchFamily="34" charset="0"/>
              </a:rPr>
              <a:t>Zebra</a:t>
            </a:r>
            <a:r>
              <a:rPr lang="en-IN" sz="1000" dirty="0">
                <a:latin typeface="Aptos" panose="020B0004020202020204" pitchFamily="34" charset="0"/>
              </a:rPr>
              <a:t>, ABS Body, Long range, High performance</a:t>
            </a: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12000/-</a:t>
            </a:r>
          </a:p>
        </p:txBody>
      </p:sp>
      <p:grpSp>
        <p:nvGrpSpPr>
          <p:cNvPr id="17" name="Group 49">
            <a:extLst>
              <a:ext uri="{FF2B5EF4-FFF2-40B4-BE49-F238E27FC236}">
                <a16:creationId xmlns:a16="http://schemas.microsoft.com/office/drawing/2014/main" id="{6D1432FA-A7B6-E1B2-42D0-BC5C8AE5AAE4}"/>
              </a:ext>
            </a:extLst>
          </p:cNvPr>
          <p:cNvGrpSpPr/>
          <p:nvPr/>
        </p:nvGrpSpPr>
        <p:grpSpPr>
          <a:xfrm>
            <a:off x="5210769" y="4162473"/>
            <a:ext cx="1112469" cy="253688"/>
            <a:chOff x="0" y="0"/>
            <a:chExt cx="185707" cy="65033"/>
          </a:xfrm>
        </p:grpSpPr>
        <p:sp>
          <p:nvSpPr>
            <p:cNvPr id="18" name="Freeform 50">
              <a:extLst>
                <a:ext uri="{FF2B5EF4-FFF2-40B4-BE49-F238E27FC236}">
                  <a16:creationId xmlns:a16="http://schemas.microsoft.com/office/drawing/2014/main" id="{69057608-C872-F1FE-8F8D-CB7628299F7B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51">
              <a:extLst>
                <a:ext uri="{FF2B5EF4-FFF2-40B4-BE49-F238E27FC236}">
                  <a16:creationId xmlns:a16="http://schemas.microsoft.com/office/drawing/2014/main" id="{2611C7E2-7C36-66F6-BD74-BCC739E24AE8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0" name="TextBox 52">
            <a:extLst>
              <a:ext uri="{FF2B5EF4-FFF2-40B4-BE49-F238E27FC236}">
                <a16:creationId xmlns:a16="http://schemas.microsoft.com/office/drawing/2014/main" id="{B7C94A69-7F55-DB58-79BC-BD5E0D4FC533}"/>
              </a:ext>
            </a:extLst>
          </p:cNvPr>
          <p:cNvSpPr txBox="1"/>
          <p:nvPr/>
        </p:nvSpPr>
        <p:spPr>
          <a:xfrm>
            <a:off x="5388356" y="4208588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C893611-FE8B-5B12-BB68-6A53E0125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7" y="3875399"/>
            <a:ext cx="2675072" cy="2454281"/>
          </a:xfrm>
          <a:prstGeom prst="rect">
            <a:avLst/>
          </a:prstGeom>
        </p:spPr>
      </p:pic>
      <p:sp>
        <p:nvSpPr>
          <p:cNvPr id="23" name="TextBox 18">
            <a:extLst>
              <a:ext uri="{FF2B5EF4-FFF2-40B4-BE49-F238E27FC236}">
                <a16:creationId xmlns:a16="http://schemas.microsoft.com/office/drawing/2014/main" id="{484AC53A-91D8-9F4E-D02B-A3213D20498E}"/>
              </a:ext>
            </a:extLst>
          </p:cNvPr>
          <p:cNvSpPr txBox="1"/>
          <p:nvPr/>
        </p:nvSpPr>
        <p:spPr>
          <a:xfrm>
            <a:off x="4387850" y="6535955"/>
            <a:ext cx="3168650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  Aether Long Range Integrated -READER</a:t>
            </a:r>
          </a:p>
        </p:txBody>
      </p:sp>
      <p:sp>
        <p:nvSpPr>
          <p:cNvPr id="24" name="TextBox 34">
            <a:extLst>
              <a:ext uri="{FF2B5EF4-FFF2-40B4-BE49-F238E27FC236}">
                <a16:creationId xmlns:a16="http://schemas.microsoft.com/office/drawing/2014/main" id="{B67F047D-5F68-048F-B652-702CC5CF6E16}"/>
              </a:ext>
            </a:extLst>
          </p:cNvPr>
          <p:cNvSpPr txBox="1"/>
          <p:nvPr/>
        </p:nvSpPr>
        <p:spPr>
          <a:xfrm>
            <a:off x="4564380" y="7158729"/>
            <a:ext cx="2675072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b="1" dirty="0">
                <a:latin typeface="Aptos" panose="020B0004020202020204" pitchFamily="34" charset="0"/>
              </a:rPr>
              <a:t>Long Range Reader  with </a:t>
            </a:r>
            <a:r>
              <a:rPr lang="fr-FR" sz="1000" b="1" dirty="0">
                <a:latin typeface="Aptos" panose="020B0004020202020204" pitchFamily="34" charset="0"/>
              </a:rPr>
              <a:t>12 </a:t>
            </a:r>
            <a:r>
              <a:rPr lang="fr-FR" sz="1000" b="1" dirty="0" err="1">
                <a:latin typeface="Aptos" panose="020B0004020202020204" pitchFamily="34" charset="0"/>
              </a:rPr>
              <a:t>dbi</a:t>
            </a:r>
            <a:r>
              <a:rPr lang="fr-FR" sz="1000" b="1" dirty="0">
                <a:latin typeface="Aptos" panose="020B0004020202020204" pitchFamily="34" charset="0"/>
              </a:rPr>
              <a:t> gain </a:t>
            </a:r>
            <a:endParaRPr lang="en-IN" sz="1000" b="1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Polarisation  :  </a:t>
            </a:r>
            <a:r>
              <a:rPr lang="fr-FR" sz="1000" dirty="0" err="1">
                <a:latin typeface="Aptos" panose="020B0004020202020204" pitchFamily="34" charset="0"/>
              </a:rPr>
              <a:t>Circular</a:t>
            </a:r>
            <a:endParaRPr lang="fr-FR" sz="1000" dirty="0">
              <a:latin typeface="Aptos" panose="020B0004020202020204" pitchFamily="34" charset="0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Read range : </a:t>
            </a:r>
            <a:r>
              <a:rPr lang="fr-FR" sz="1000" dirty="0" err="1">
                <a:latin typeface="Aptos" panose="020B0004020202020204" pitchFamily="34" charset="0"/>
              </a:rPr>
              <a:t>upto</a:t>
            </a:r>
            <a:r>
              <a:rPr lang="fr-FR" sz="1000" dirty="0">
                <a:latin typeface="Aptos" panose="020B0004020202020204" pitchFamily="34" charset="0"/>
              </a:rPr>
              <a:t> 25 </a:t>
            </a:r>
            <a:r>
              <a:rPr lang="fr-FR" sz="1000" dirty="0" err="1">
                <a:latin typeface="Aptos" panose="020B0004020202020204" pitchFamily="34" charset="0"/>
              </a:rPr>
              <a:t>Meters</a:t>
            </a:r>
            <a:endParaRPr lang="fr-FR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Read capacity : 1000 tags/sec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    Application : Parking, Toll Plaza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Interface : RS232, RS485, Wiegand, POE</a:t>
            </a: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Price : 17000/-</a:t>
            </a:r>
          </a:p>
        </p:txBody>
      </p:sp>
      <p:grpSp>
        <p:nvGrpSpPr>
          <p:cNvPr id="25" name="Group 49">
            <a:extLst>
              <a:ext uri="{FF2B5EF4-FFF2-40B4-BE49-F238E27FC236}">
                <a16:creationId xmlns:a16="http://schemas.microsoft.com/office/drawing/2014/main" id="{30FA55B4-325D-1748-94BA-FEFEB238E974}"/>
              </a:ext>
            </a:extLst>
          </p:cNvPr>
          <p:cNvGrpSpPr/>
          <p:nvPr/>
        </p:nvGrpSpPr>
        <p:grpSpPr>
          <a:xfrm>
            <a:off x="5250123" y="6819154"/>
            <a:ext cx="1112469" cy="253688"/>
            <a:chOff x="0" y="0"/>
            <a:chExt cx="185707" cy="65033"/>
          </a:xfrm>
        </p:grpSpPr>
        <p:sp>
          <p:nvSpPr>
            <p:cNvPr id="26" name="Freeform 50">
              <a:extLst>
                <a:ext uri="{FF2B5EF4-FFF2-40B4-BE49-F238E27FC236}">
                  <a16:creationId xmlns:a16="http://schemas.microsoft.com/office/drawing/2014/main" id="{01F21CBA-5070-9708-EFC0-44C83FB8752F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TextBox 51">
              <a:extLst>
                <a:ext uri="{FF2B5EF4-FFF2-40B4-BE49-F238E27FC236}">
                  <a16:creationId xmlns:a16="http://schemas.microsoft.com/office/drawing/2014/main" id="{51AB3557-B1E3-7543-AF4F-287C83916450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8" name="TextBox 52">
            <a:extLst>
              <a:ext uri="{FF2B5EF4-FFF2-40B4-BE49-F238E27FC236}">
                <a16:creationId xmlns:a16="http://schemas.microsoft.com/office/drawing/2014/main" id="{CD926B6D-7928-FB82-ECBD-B6CC1BD53183}"/>
              </a:ext>
            </a:extLst>
          </p:cNvPr>
          <p:cNvSpPr txBox="1"/>
          <p:nvPr/>
        </p:nvSpPr>
        <p:spPr>
          <a:xfrm>
            <a:off x="5427710" y="6865269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6CE989A-DF4E-0BAF-7E9F-D3EF0AE41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" y="6637906"/>
            <a:ext cx="2016690" cy="21441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1B0BF78-F669-1798-2FA7-B518D9BB7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969" y="6637906"/>
            <a:ext cx="2437278" cy="2413456"/>
          </a:xfrm>
          <a:prstGeom prst="rect">
            <a:avLst/>
          </a:prstGeom>
        </p:spPr>
      </p:pic>
      <p:sp>
        <p:nvSpPr>
          <p:cNvPr id="12" name="TextBox 42">
            <a:extLst>
              <a:ext uri="{FF2B5EF4-FFF2-40B4-BE49-F238E27FC236}">
                <a16:creationId xmlns:a16="http://schemas.microsoft.com/office/drawing/2014/main" id="{07ADDC19-B989-A8DB-5750-1B28AF478567}"/>
              </a:ext>
            </a:extLst>
          </p:cNvPr>
          <p:cNvSpPr txBox="1"/>
          <p:nvPr/>
        </p:nvSpPr>
        <p:spPr>
          <a:xfrm>
            <a:off x="344658" y="10229585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13" name="TextBox 43">
            <a:extLst>
              <a:ext uri="{FF2B5EF4-FFF2-40B4-BE49-F238E27FC236}">
                <a16:creationId xmlns:a16="http://schemas.microsoft.com/office/drawing/2014/main" id="{20FBD73B-9BCC-37C4-D084-764FDEA3711C}"/>
              </a:ext>
            </a:extLst>
          </p:cNvPr>
          <p:cNvSpPr txBox="1"/>
          <p:nvPr/>
        </p:nvSpPr>
        <p:spPr>
          <a:xfrm>
            <a:off x="344658" y="10037659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21" name="AutoShape 44">
            <a:extLst>
              <a:ext uri="{FF2B5EF4-FFF2-40B4-BE49-F238E27FC236}">
                <a16:creationId xmlns:a16="http://schemas.microsoft.com/office/drawing/2014/main" id="{A04CDFD8-2FA3-81BA-D80A-F8758486C9F3}"/>
              </a:ext>
            </a:extLst>
          </p:cNvPr>
          <p:cNvSpPr/>
          <p:nvPr/>
        </p:nvSpPr>
        <p:spPr>
          <a:xfrm>
            <a:off x="2356178" y="10354997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2939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840</Words>
  <Application>Microsoft Office PowerPoint</Application>
  <PresentationFormat>Custom</PresentationFormat>
  <Paragraphs>135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Alegreya Sans Bold</vt:lpstr>
      <vt:lpstr>Aptos</vt:lpstr>
      <vt:lpstr>Akzidenz-Grotesk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Neutral Luxury Elegant Lighting Product Catalogue A4 Document</dc:title>
  <cp:lastModifiedBy>Meena Singh</cp:lastModifiedBy>
  <cp:revision>103</cp:revision>
  <dcterms:created xsi:type="dcterms:W3CDTF">2006-08-16T00:00:00Z</dcterms:created>
  <dcterms:modified xsi:type="dcterms:W3CDTF">2026-03-19T19:36:12Z</dcterms:modified>
  <dc:identifier>DAHAXKZNxmg</dc:identifier>
</cp:coreProperties>
</file>